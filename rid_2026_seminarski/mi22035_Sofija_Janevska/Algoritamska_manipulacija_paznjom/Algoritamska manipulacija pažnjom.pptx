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Bold" charset="1" panose="02000000000000000000"/>
      <p:regular r:id="rId30"/>
    </p:embeddedFont>
    <p:embeddedFont>
      <p:font typeface="Poppins Light" charset="1" panose="02000000000000000000"/>
      <p:regular r:id="rId31"/>
    </p:embeddedFont>
    <p:embeddedFont>
      <p:font typeface="Poppins Light Bold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29700" y="10287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15332" y="1957521"/>
            <a:ext cx="4858336" cy="7300779"/>
          </a:xfrm>
          <a:custGeom>
            <a:avLst/>
            <a:gdLst/>
            <a:ahLst/>
            <a:cxnLst/>
            <a:rect r="r" b="b" t="t" l="l"/>
            <a:pathLst>
              <a:path h="7300779" w="4858336">
                <a:moveTo>
                  <a:pt x="0" y="0"/>
                </a:moveTo>
                <a:lnTo>
                  <a:pt x="4858336" y="0"/>
                </a:lnTo>
                <a:lnTo>
                  <a:pt x="4858336" y="7300779"/>
                </a:lnTo>
                <a:lnTo>
                  <a:pt x="0" y="730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17418"/>
            <a:ext cx="16230600" cy="33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Algor</a:t>
            </a: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itamska</a:t>
            </a:r>
          </a:p>
          <a:p>
            <a:pPr algn="l">
              <a:lnSpc>
                <a:spcPts val="8800"/>
              </a:lnSpc>
            </a:pP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manipulacija</a:t>
            </a:r>
          </a:p>
          <a:p>
            <a:pPr algn="l" marL="0" indent="0" lvl="0">
              <a:lnSpc>
                <a:spcPts val="8800"/>
              </a:lnSpc>
            </a:pPr>
            <a:r>
              <a:rPr lang="en-US" b="true" sz="8000" spc="-20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pažnjom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28461"/>
            <a:ext cx="1623060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</a:t>
            </a: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ike i posledice</a:t>
            </a:r>
          </a:p>
          <a:p>
            <a:pPr algn="l">
              <a:lnSpc>
                <a:spcPts val="5599"/>
              </a:lnSpc>
            </a:pPr>
            <a:r>
              <a:rPr lang="en-US" sz="3999" spc="9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maksimizacije engagementa</a:t>
            </a:r>
          </a:p>
          <a:p>
            <a:pPr algn="l">
              <a:lnSpc>
                <a:spcPts val="5599"/>
              </a:lnSpc>
            </a:pPr>
          </a:p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pc="72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Sofija Janevska, 2026.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88453" y="2191841"/>
            <a:ext cx="771999" cy="77199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88453" y="3585076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88453" y="6367323"/>
            <a:ext cx="771999" cy="77199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88453" y="4976199"/>
            <a:ext cx="771999" cy="77199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5400000">
            <a:off x="2882977" y="-480217"/>
            <a:ext cx="2104069" cy="4223839"/>
          </a:xfrm>
          <a:custGeom>
            <a:avLst/>
            <a:gdLst/>
            <a:ahLst/>
            <a:cxnLst/>
            <a:rect r="r" b="b" t="t" l="l"/>
            <a:pathLst>
              <a:path h="4223839" w="2104069">
                <a:moveTo>
                  <a:pt x="0" y="0"/>
                </a:moveTo>
                <a:lnTo>
                  <a:pt x="2104068" y="0"/>
                </a:lnTo>
                <a:lnTo>
                  <a:pt x="2104068" y="4223840"/>
                </a:lnTo>
                <a:lnTo>
                  <a:pt x="0" y="4223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8819" y="2191841"/>
            <a:ext cx="6201934" cy="10897967"/>
          </a:xfrm>
          <a:custGeom>
            <a:avLst/>
            <a:gdLst/>
            <a:ahLst/>
            <a:cxnLst/>
            <a:rect r="r" b="b" t="t" l="l"/>
            <a:pathLst>
              <a:path h="10897967" w="6201934">
                <a:moveTo>
                  <a:pt x="0" y="0"/>
                </a:moveTo>
                <a:lnTo>
                  <a:pt x="6201934" y="0"/>
                </a:lnTo>
                <a:lnTo>
                  <a:pt x="6201934" y="10897967"/>
                </a:lnTo>
                <a:lnTo>
                  <a:pt x="0" y="1089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04270" y="6409828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Psihološki mehanizmi i posledice po korisnike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4270" y="2067301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Ekonomija pažnje i nadzorni kapitalizam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01847" y="218141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4270" y="3460535"/>
            <a:ext cx="805503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Tehničke metode maksimizacija engagementa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01847" y="3574645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1847" y="6356892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4270" y="4935182"/>
            <a:ext cx="73227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00"/>
              </a:lnSpc>
            </a:pPr>
            <a:r>
              <a:rPr lang="en-US" sz="4200" spc="10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Merenje pažnje: metrike koje platforme optimizuju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1847" y="496720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18" y="2994999"/>
            <a:ext cx="4257587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-16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Obrađene teme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iše vremena. Više reakcija.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Više podataka. Više predviđanja.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Šta p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latforma ž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eli?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1916" y="651537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ik, skrol, zadržavanje i povratak nisu samo ponašanje korisnika —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su podaci iz kojih platforma uči kako da ga ponovo aktivira.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778849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pc="-15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Ekonomija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4132" y="3105150"/>
            <a:ext cx="17579736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Digitalne p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latforme nisu samo prostori komunikacije, zabave i informisanja.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 su ekonomski sistemi (pažnja &lt;-&gt; resurs)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takvom modelu nije dovoljno da korisnik samo pristupi platformi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Pažnja zato nije samo psihološka sposobnost pojedinca, već vrednost oko koje se organizuje čitav digitalni poslovni model.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ekonomiji pažnje, korisnik ne plaća samo novcem.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Plaća vremenom, pažnjom i podacima.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Pažnja k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ao r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esurs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Plaća se pažnjom, podacima i sve preciznijim uvidom 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platforme u njegove navike.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197897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pc="-150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Nadzorni kapitalizam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4132" y="2819400"/>
            <a:ext cx="17579736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Zuboff ovaj model opisuje pojmom </a:t>
            </a:r>
            <a:r>
              <a:rPr lang="en-US" sz="3000" spc="75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n</a:t>
            </a: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adzornog kapitalizma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Ljudsko iskustvo postaje sirovina za prikupljanje podataka, a ti podaci se koriste za pravljenje prediktivnih proizvoda: procena o tome šta će korisnik verovatno uraditi, pogledati, poželeti, kupiti ili kliknuti.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Ključna promena nije samo u tome što platforme znaju mnogo o korisniku, već u tome što to znanje nije prvenstveno namenjeno njemu.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tom trenutku nadzor više ne izgleda kao klasično posmatranje, već kao svakodnevna personalizacija.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55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Zuboff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pokazuje da platforme ne zarađuju samo od naše pažnje, već od mogućnosti da naše buduće ponašanje predvide, oblikuju i prodaju kao ekonomsku vrednost.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Ko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risnikovo iskustvo postaje sirovina.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Nadzorni kapi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ta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lizam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Tehničke metode maksimizacije engagementa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247900"/>
            <a:ext cx="17458711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Ne maksimizuje se samo vreme koje korisnik provodi pred ekranom, već i čitav niz interakcija sa platformom.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Povratna sprega: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reaguje na sadržaj → sistem tu reakciju beleži →                               naredni sadržaj se prilagođava tako da poveća verovatnoću nove reakcije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ktivno oblikovanje korisničkog iskustva.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Tri metode koje se analiziraju: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collaborative filtering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reinforcement learning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A/B testiranje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iskusija o odgovornosti korisnika mora se voditi u kontekstu okruženja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koje je visoko optimizovano za merenje, podsticanje i produžavanje interakcija.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Prob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lem nije isključivo u korisniku koji ostaje.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Problem je u sistemu koji je napravljen da ga zadrži.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76640" y="2450555"/>
            <a:ext cx="373472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Glavna </a:t>
            </a: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teza rada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Collaborative filtering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051158"/>
            <a:ext cx="17458711" cy="741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Umesto da sistem “razume” sam sadržaj u ljudskom smislu, on posmatra obrasce ponašanja velikog broja korisnika i iz tih obrazaca izvodi preporuke.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Sistem je zasnovan na matrici: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 &lt;-&gt; korisnik, kolona &lt;-&gt; konkretan sadržaj;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vrednost polja &lt;-&gt; neki oblik korisničke reakcije.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Reakcija može biti: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eksplicitna — ocena od jedne do pet zvezdica;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implicitna — vreme gledanja, klik, pregled stranice, kupovina... 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User-based collaborative filtering - kroz korisnike koji su slični posmatranom.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Item-based collaborative filtering - kroz obrasce uparenih pozitivnih reakcija.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 kontekstu engagementa, izbegava se “generalno popularan sadržaj”, preporuka je personalizovana.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Međutim, tu se otvaraju društveno problematične implikacije.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asizam, mizoginija, mizandrija, homofobija, ekstremna religijska uverenja,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teorije zavere, agresija, mržnja i slični obrasci ne deluju više kao margina interneta.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Mehanizam 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zatvaranja k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risnika u sopstvenu informacionu petlju.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Filter bubble efekat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Reinforcement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4819650"/>
            <a:ext cx="1745871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Platforma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uči kroz niz koraka: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preduzima određenu akciju, posmatra reakciju korisnika, dobija signal nagrade, buduće akcije prilagođava novim saznanjima.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Npr.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akcija = izbor sledećeg video-snimka; nagrada = klik || gledanje do kraja.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Indukovana interakcija =&gt; uspeh! Reakcija izostaje =&gt; prilagođavanje ponašanja.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Etički problem - Nagrada = interakcije sa platformom?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imizacija prestaje da bude neutralna</a:t>
            </a:r>
          </a:p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tehnička procedura i prelazi u manipulaciju korisnikom.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7666" y="4169931"/>
            <a:ext cx="156926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ne samo da prati koris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nikove postojeće preferencije, već počinje da ih oblikuje.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User tampering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A/B testiranje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781675"/>
            <a:ext cx="17458711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orisnici se nasumično dele u grupe. (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postojeća vs nova verzija neke funkcionalnosti)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Koristi se za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gotovo svaki element korisničkog iskustva: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redosled objava u feed-u, raspored dugmadi, boju interfejsa, tekst notifikacije...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Konačni sud o promeni ne prepušta se intuiciji već, empirijskim podacima.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verzija koja donosi više interakcija biva ocenjena kao uspešnija.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Ne znači da je svako A/B testiranje problematično, ali Izbor metrike?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A/B testiranje ima važnu ulogu u ekonomiji pažnje: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kontinualno saznanje o tome šta korisnike duže zadržava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10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Ako 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kao uspeh meri engagement, “bolja” verzija nije nužno ona koja je bolja za korisnika, već ona koja je bolja za vlasnike platforme.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593" y="4169931"/>
            <a:ext cx="1783257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Korisničko iskus</a:t>
            </a: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tvo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postaje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prostor neprekidnog testiranja ponašanja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A/B test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Metrike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163121"/>
            <a:ext cx="17458711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V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idljivi obrasci ponašanja: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klik, vreme zadržavanja, nastavak skrolovanja, povratak, reakcija na sadržaj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Najčešće met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rike engagementa: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 — odnos između broja prikaza i broja klikova;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watch time / dwell time — vreme koje korisnik provede na sadržaju;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scroll depth — koliko duboko korisnik ulazi u stranicu, tekst ili feed;</a:t>
            </a:r>
          </a:p>
          <a:p>
            <a:pPr algn="l" marL="1295400" indent="-431800" lvl="2">
              <a:lnSpc>
                <a:spcPts val="45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retenti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 — zadržavanje korisnika kroz vreme, odnosno njegovo vraćanje na platformu.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Kao centralni akteri u definiciji cilja,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metrike engagementa prestaju da budu samo analitički pokazatelji i postaju uputstvo za izgradnju zavisničkog okruženja.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8889" y="2033158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2" y="0"/>
                </a:lnTo>
                <a:lnTo>
                  <a:pt x="6990222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1916" y="6197688"/>
            <a:ext cx="14904169" cy="50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7"/>
              </a:lnSpc>
              <a:spcBef>
                <a:spcPct val="0"/>
              </a:spcBef>
            </a:pPr>
            <a:r>
              <a:rPr lang="en-US" sz="2764" spc="69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</a:t>
            </a:r>
            <a:r>
              <a:rPr lang="en-US" sz="2764" spc="69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obrobit korisnika nije nepoznata sistemu — ona je samo loša metrika za profit.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711" y="3584982"/>
            <a:ext cx="1783257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Metrike engagementa su</a:t>
            </a: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 parametri manipulacije: one platformi pokazuju šta korisnika pokreće, šta ga zadržava, gde popušta i kako ga vratiti nazad.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38" y="2450555"/>
            <a:ext cx="411292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pc="69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Merenje pažnje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Psihološki mehanizmi zadržavanja pažnje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078718"/>
            <a:ext cx="17458711" cy="798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Tehnička optimizacija pažnje dela i van platforme, jer se prevodi u konkretne ko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risničke navike.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Npr.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konstantno proveravanje telefona, skrolovanje, sve teže prekidanje interakcije...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nije potpuno autonoman akter pred neutralnim ekranom.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rostoru je dizajniran tako da prepoznaje njegove reakcije, slabosti, navike i emocionalne okidače.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Kada je cilj duže zadržavanje, češći povratak i intenzivnija reakcija, ps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ihologija prestaje da bude samo nauka o čoveku.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Problem nije u tome što platforme poznaju ljudsko ponašanje.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spc="75" u="none">
                <a:solidFill>
                  <a:srgbClr val="DFD9F1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 Problem je u tome što se to znanje koristi unutar poslovnog modela u kome se korisnikova pažnja ne štiti, već eksploatiše.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Promenljive nagrade i uklanjanje tačke prekida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600640"/>
            <a:ext cx="17458711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ne dolazi samo zbog sadržaja koji je već video, već zbog mogućnosti da sledeći sadržaj bude baš onaj koji će ga dotaći.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 nastavlja ne zato što je svaki sadržaj vredan, već zato što sledeći možda jeste.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Infinite scroll, autoplay i beskonačni feed uklanjaju trenutak u kome bi korisnik prirodno zastao i doneo odluku da prestane.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Beskonačni tok sadržaja nije samo udobna funkcionalnost - On je arhitektura produženog ostanka.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Socijalna validacija, FOMO i emocionalni feed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419350"/>
            <a:ext cx="17458711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Platforma ne optimizuje samo odnos 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korisnika prema sadržaju, već i njegov odnos prema drugim ljudima i samom sebi.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Lajkovi, komentari, deljenja, pregledi i pratioci mogu uticati na društveni status i/ili samovrednovanje.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FOMO dodatno pojačava ovu dinamiku.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Platf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orma ne prodaje samo sadržaj, već osećaj da je odsustvo rizično.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Emocionalna promenljivost feed-a održava pažnju smenom prij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atnog, smešnog, tužnog, šokantnog, konfliktnog i intimnog sadržaja.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Takav f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eed je psihološki ritam podešen tako da korisnik ne potone u dosadu dovoljno dugo da bi aplikaciju zatvorio.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416" y="1038225"/>
            <a:ext cx="169051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pc="-135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Navika ili digitalna adikcija?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645" y="2655899"/>
            <a:ext cx="17458711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Granic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se prepoznaje po gubitku kontrole.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Teže prekidamo korišćenje iako osećamo da nam ne prija.</a:t>
            </a:r>
          </a:p>
          <a:p>
            <a:pPr algn="l">
              <a:lnSpc>
                <a:spcPts val="4500"/>
              </a:lnSpc>
            </a:pPr>
          </a:p>
          <a:p>
            <a:pPr algn="ctr">
              <a:lnSpc>
                <a:spcPts val="4500"/>
              </a:lnSpc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Digitalna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adikcija je slabosti pojedinca?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Čovek ima odgovornost za sopstvene navike, ali ona ne može bi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ti analizirana van konteksta sistema koji je tehnički, ekonomski</a:t>
            </a: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 i psihološki podešen da prekid učini težim, a povratak verovatnijim.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nije u samom dizajnu, već u cilju kojem dizajn služi.</a:t>
            </a:r>
          </a:p>
          <a:p>
            <a:pPr algn="l" marL="647700" indent="-323850" lvl="1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75" u="none">
                <a:solidFill>
                  <a:srgbClr val="DFD9F1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Granica između pomoći i eksploatacije postaje namerno mutna.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117B">
                <a:alpha val="100000"/>
              </a:srgbClr>
            </a:gs>
            <a:gs pos="50000">
              <a:srgbClr val="0B1244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1111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720F0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5968" y="3086100"/>
            <a:ext cx="2596065" cy="4114800"/>
          </a:xfrm>
          <a:custGeom>
            <a:avLst/>
            <a:gdLst/>
            <a:ahLst/>
            <a:cxnLst/>
            <a:rect r="r" b="b" t="t" l="l"/>
            <a:pathLst>
              <a:path h="4114800" w="2596065">
                <a:moveTo>
                  <a:pt x="0" y="0"/>
                </a:moveTo>
                <a:lnTo>
                  <a:pt x="2596064" y="0"/>
                </a:lnTo>
                <a:lnTo>
                  <a:pt x="2596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7839" y="8522104"/>
            <a:ext cx="1561847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ljudskom smislu:</a:t>
            </a:r>
          </a:p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iscrpljen čovek čija je pažnja korporativno vlasništvo.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DFD9F1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1111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720F0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6017" y="2362303"/>
            <a:ext cx="2314800" cy="2781197"/>
          </a:xfrm>
          <a:custGeom>
            <a:avLst/>
            <a:gdLst/>
            <a:ahLst/>
            <a:cxnLst/>
            <a:rect r="r" b="b" t="t" l="l"/>
            <a:pathLst>
              <a:path h="2781197" w="2314800">
                <a:moveTo>
                  <a:pt x="0" y="0"/>
                </a:moveTo>
                <a:lnTo>
                  <a:pt x="2314801" y="0"/>
                </a:lnTo>
                <a:lnTo>
                  <a:pt x="2314801" y="2781197"/>
                </a:lnTo>
                <a:lnTo>
                  <a:pt x="0" y="2781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5968" y="3086100"/>
            <a:ext cx="2596065" cy="4114800"/>
          </a:xfrm>
          <a:custGeom>
            <a:avLst/>
            <a:gdLst/>
            <a:ahLst/>
            <a:cxnLst/>
            <a:rect r="r" b="b" t="t" l="l"/>
            <a:pathLst>
              <a:path h="4114800" w="2596065">
                <a:moveTo>
                  <a:pt x="0" y="0"/>
                </a:moveTo>
                <a:lnTo>
                  <a:pt x="2596064" y="0"/>
                </a:lnTo>
                <a:lnTo>
                  <a:pt x="2596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7839" y="8522104"/>
            <a:ext cx="1561847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 ljudskom smislu:</a:t>
            </a:r>
          </a:p>
          <a:p>
            <a:pPr algn="r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iscrpljen čovek čija je pažnja korporativno vlasništvo.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483" y="342900"/>
            <a:ext cx="715803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 poslovnom smislu: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b="true" sz="4500" spc="-1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idealan, merljiv korisnik.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068306" y="3328304"/>
            <a:ext cx="6990222" cy="7860546"/>
          </a:xfrm>
          <a:custGeom>
            <a:avLst/>
            <a:gdLst/>
            <a:ahLst/>
            <a:cxnLst/>
            <a:rect r="r" b="b" t="t" l="l"/>
            <a:pathLst>
              <a:path h="7860546" w="6990222">
                <a:moveTo>
                  <a:pt x="0" y="0"/>
                </a:moveTo>
                <a:lnTo>
                  <a:pt x="6990223" y="0"/>
                </a:lnTo>
                <a:lnTo>
                  <a:pt x="6990223" y="7860546"/>
                </a:lnTo>
                <a:lnTo>
                  <a:pt x="0" y="786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23458" y="4047469"/>
            <a:ext cx="27334916" cy="1995116"/>
          </a:xfrm>
          <a:custGeom>
            <a:avLst/>
            <a:gdLst/>
            <a:ahLst/>
            <a:cxnLst/>
            <a:rect r="r" b="b" t="t" l="l"/>
            <a:pathLst>
              <a:path h="1995116" w="27334916">
                <a:moveTo>
                  <a:pt x="0" y="0"/>
                </a:moveTo>
                <a:lnTo>
                  <a:pt x="27334916" y="0"/>
                </a:lnTo>
                <a:lnTo>
                  <a:pt x="27334916" y="1995116"/>
                </a:lnTo>
                <a:lnTo>
                  <a:pt x="0" y="1995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07161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9802" y="4457700"/>
            <a:ext cx="1783257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spc="-1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Ovo nije greška sistema.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pc="-1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Ovo je sistem.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DAG_n0kv7zE</dc:identifier>
  <dcterms:modified xsi:type="dcterms:W3CDTF">2011-08-01T06:04:30Z</dcterms:modified>
  <cp:revision>1</cp:revision>
  <dc:title>Text mining</dc:title>
</cp:coreProperties>
</file>