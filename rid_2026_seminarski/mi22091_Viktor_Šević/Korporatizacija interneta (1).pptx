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0000"/>
    <a:srgbClr val="210E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5D57E8-208E-4DCF-9ED1-F6E6F41A3760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0FCFD-D092-4F1D-8C95-62D0E40751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17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0FCFD-D092-4F1D-8C95-62D0E40751B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051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65F33-3CEE-E9D3-C256-B4D0D903A0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7BA86-56FD-5EF6-B147-3B6B1414D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78CB7-9D25-48D1-B728-5A3596FAB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434F-6182-460C-B912-F780E1DEEFFD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BC0BE-6A95-DAC8-C75B-70D0101F1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1B19B-7ED4-525B-D6E6-63D00ED74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B68A-A2BE-4770-80C2-28710EC805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6675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CD73-A2ED-B0BC-CF40-453BF56AC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64A23-6DED-DA2D-73EF-9263B2EBF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F121D-29D6-4490-E7F0-A76F88C22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434F-6182-460C-B912-F780E1DEEFFD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E6EF4-2CD4-05BA-E156-8076718B3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7DC86-2DC8-E1F6-300F-0E41766A2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B68A-A2BE-4770-80C2-28710EC805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776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2B2B0-965F-9FD3-1B2D-0D2DE626A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CDF8D-5744-2849-2D15-281626017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B3A0B-35BD-F34E-FC70-9E1A2CD75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434F-6182-460C-B912-F780E1DEEFFD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E67E6-C37A-4D50-513F-866E91A8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7ED46-13B5-7314-5778-359871701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B68A-A2BE-4770-80C2-28710EC805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734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5D9A3-B677-66B9-2FF8-230B23BEC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79C61-9D01-796A-CBEB-01FBBC5509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5399AD-D011-743D-B87B-1E4B518DF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869A5-DEA3-12A8-4D18-707B6F75C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434F-6182-460C-B912-F780E1DEEFFD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19B9E-2AE8-6004-CC3D-279631747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6A45E-646D-B8E4-04A7-65FB859C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B68A-A2BE-4770-80C2-28710EC805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2246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00C3-6EFF-6006-13AC-F936BC98E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65B57-9400-6FBA-B199-9430D0A9B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873D8-BB86-483D-DB55-C2B801EBD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743DB1-EA75-3100-B5E5-18CA50995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CA8033-9F94-C9CD-BF6C-21BA7999D6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836382-5A74-4C95-2843-CB8A0A631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434F-6182-460C-B912-F780E1DEEFFD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707F51-193E-B47A-0337-D80C91C8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C354A9-BD23-175C-7C73-DA3E558F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B68A-A2BE-4770-80C2-28710EC805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674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70FC7-0AE7-D38D-1713-1412C1284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06B65-9CD9-0352-D1B2-E0EC44EAF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434F-6182-460C-B912-F780E1DEEFFD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4C479-E172-C853-77D7-5869D3843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D64CF9-4770-CD67-C8E1-A9F89B97C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B68A-A2BE-4770-80C2-28710EC805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8215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298103-5B7A-B190-E896-48B4FEEE6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434F-6182-460C-B912-F780E1DEEFFD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B66261-8BD6-C704-5C45-1BEFD6EE6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0778B-EB8B-3147-66AF-90E7F6058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B68A-A2BE-4770-80C2-28710EC805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376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597E3-17E4-A823-0FA3-94AA14535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CA592-BD85-E641-0419-ECF8D5830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1FC0DF-B128-92B4-C59C-35BB976E2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BC36D-EEAE-573E-DC14-7F89FFDF1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434F-6182-460C-B912-F780E1DEEFFD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C1621-D53E-2201-0BFE-69DDF224A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5F372-E8FE-0013-BD40-661464339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B68A-A2BE-4770-80C2-28710EC805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41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7CDC1-2AAC-0B3F-A090-306F43688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8AE05B-4A75-9485-833F-7EC56EA45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C8F0CC-D001-0D93-84B8-E7A99BEB4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A2FC9-717E-8691-58EB-D0A4BCE3D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434F-6182-460C-B912-F780E1DEEFFD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39A97A-D073-0E65-670D-8F219A29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6D66D2-A873-D208-0BEC-7C8201120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B68A-A2BE-4770-80C2-28710EC805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185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DE190-7D19-4F13-CE89-5A1BBAC45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C7A63-343D-4CCD-27B3-D8E0426CA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87DFA-1382-D305-10A5-4AB3AD18B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434F-6182-460C-B912-F780E1DEEFFD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EF876-BCE2-12DA-89B1-3161D79DC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D6908-F657-04F2-8EA5-1EDFEC79C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B68A-A2BE-4770-80C2-28710EC805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5781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CDFE02-B25D-6FDB-27EA-7D9C43149E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102FCC-90BB-F8F5-B363-E869E7E93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C044C-B02B-77B3-26D5-3070644B7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434F-6182-460C-B912-F780E1DEEFFD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710A2-174B-85E0-5FB4-31AEED142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2DA11-68DD-C350-EB4A-7ABB2B6C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B68A-A2BE-4770-80C2-28710EC805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457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E6F74F-52B2-9515-67A8-829EC8C43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51616-A41A-C323-6CCF-B8CE6C8BC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B8A5F-9EB6-A48B-B8BD-82F40C0DE7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7434F-6182-460C-B912-F780E1DEEFFD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5F774-DE05-0CFB-A90A-385EBD43E0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3C970-F15A-4622-45EA-ED8CD5582C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1B68A-A2BE-4770-80C2-28710EC805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413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C5BCA-275F-27ED-B3DA-B6655954F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668000" cy="3509963"/>
          </a:xfrm>
        </p:spPr>
        <p:txBody>
          <a:bodyPr/>
          <a:lstStyle/>
          <a:p>
            <a:pPr algn="l"/>
            <a:r>
              <a:rPr lang="sr-Latn-RS" dirty="0">
                <a:latin typeface="Bauhaus 93" panose="04030905020B02020C02" pitchFamily="82" charset="0"/>
              </a:rPr>
              <a:t>Korporatizacija interneta</a:t>
            </a:r>
            <a:endParaRPr lang="en-GB" dirty="0">
              <a:latin typeface="Bauhaus 93" panose="04030905020B02020C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CFA518-1543-3B23-A4D4-14F6B078EB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02038"/>
            <a:ext cx="10094259" cy="1655762"/>
          </a:xfrm>
        </p:spPr>
        <p:txBody>
          <a:bodyPr/>
          <a:lstStyle/>
          <a:p>
            <a:pPr algn="l"/>
            <a:r>
              <a:rPr lang="sr-Latn-RS" dirty="0">
                <a:latin typeface="Bahnschrift Condensed" panose="020B0502040204020203" pitchFamily="34" charset="0"/>
              </a:rPr>
              <a:t>Viktor Šević</a:t>
            </a:r>
          </a:p>
          <a:p>
            <a:pPr algn="l"/>
            <a:r>
              <a:rPr lang="sr-Latn-RS" dirty="0">
                <a:latin typeface="Bahnschrift Condensed" panose="020B0502040204020203" pitchFamily="34" charset="0"/>
              </a:rPr>
              <a:t>Profesor: dr Sana Stojanović Đurđević</a:t>
            </a:r>
            <a:endParaRPr lang="en-GB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741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80478-B9D0-20DC-76D4-1B1DD5664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2769"/>
            <a:ext cx="11353800" cy="737120"/>
          </a:xfrm>
        </p:spPr>
        <p:txBody>
          <a:bodyPr/>
          <a:lstStyle/>
          <a:p>
            <a:pPr algn="ctr"/>
            <a:r>
              <a:rPr lang="sr-Latn-RS" dirty="0">
                <a:latin typeface="Bauhaus 93" panose="04030905020B02020C02" pitchFamily="82" charset="0"/>
              </a:rPr>
              <a:t>Internet nekada</a:t>
            </a:r>
            <a:endParaRPr lang="en-GB" dirty="0">
              <a:latin typeface="Bauhaus 93" panose="04030905020B02020C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A3A17-2591-9007-D73B-601EA2F5E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879890"/>
            <a:ext cx="11560628" cy="5670200"/>
          </a:xfrm>
        </p:spPr>
        <p:txBody>
          <a:bodyPr>
            <a:normAutofit/>
          </a:bodyPr>
          <a:lstStyle/>
          <a:p>
            <a:r>
              <a:rPr lang="sr-Latn-RS" sz="2000" dirty="0"/>
              <a:t>ARPANET – prva računarska mreža na američkim univerzitetima. Cilj je bio omogućiti pristup vrednim računarskim resursima.</a:t>
            </a:r>
          </a:p>
          <a:p>
            <a:r>
              <a:rPr lang="sr-Latn-RS" sz="2000" dirty="0"/>
              <a:t>Rasprave MIT i univerziteta oko pristupa.</a:t>
            </a:r>
          </a:p>
          <a:p>
            <a:r>
              <a:rPr lang="sr-Latn-RS" sz="2000" dirty="0"/>
              <a:t>NSFNET – porast od oko 2 000 do oko 2 000 000 korisnika. Zabranjeno korišćenje u komercijalne svrhe. Korišćenje u lične svrhe poput kratkih poruka sve redovnije.</a:t>
            </a:r>
          </a:p>
          <a:p>
            <a:r>
              <a:rPr lang="sr-Latn-RS" sz="2000" dirty="0"/>
              <a:t>Početkom 90ih porastom broja korisnika pojavljuje se i pritisak za promenu pravila.</a:t>
            </a:r>
          </a:p>
          <a:p>
            <a:r>
              <a:rPr lang="sr-Latn-RS" sz="2000" dirty="0"/>
              <a:t>Privatizacija NSFNET-a prvi put se prodaje pristup internetu</a:t>
            </a:r>
          </a:p>
          <a:p>
            <a:endParaRPr lang="sr-Latn-RS" sz="2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F7A49E9-69FC-7A03-0382-15BE5FC9E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3028" y="3256748"/>
            <a:ext cx="5827744" cy="329334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4719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C73B-2490-0A7C-CD7A-51CBFDBD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933060"/>
          </a:xfrm>
        </p:spPr>
        <p:txBody>
          <a:bodyPr/>
          <a:lstStyle/>
          <a:p>
            <a:pPr algn="ctr"/>
            <a:r>
              <a:rPr lang="sr-Latn-RS" dirty="0">
                <a:latin typeface="Bauhaus 93" panose="04030905020B02020C02" pitchFamily="82" charset="0"/>
              </a:rPr>
              <a:t>Rat browsera</a:t>
            </a:r>
            <a:endParaRPr lang="en-GB" dirty="0">
              <a:latin typeface="Bauhaus 93" panose="04030905020B02020C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08F62-0D1D-0211-465F-37BE8CF63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8416"/>
            <a:ext cx="12192000" cy="5243902"/>
          </a:xfrm>
        </p:spPr>
        <p:txBody>
          <a:bodyPr>
            <a:normAutofit/>
          </a:bodyPr>
          <a:lstStyle/>
          <a:p>
            <a:r>
              <a:rPr lang="en-GB" sz="2000" dirty="0"/>
              <a:t>NCSA Mosaic</a:t>
            </a:r>
            <a:r>
              <a:rPr lang="sr-Latn-RS" sz="2000" dirty="0"/>
              <a:t> – prvi internet browser, akademski usmeren</a:t>
            </a:r>
          </a:p>
          <a:p>
            <a:r>
              <a:rPr lang="sr-Latn-RS" sz="2000" dirty="0"/>
              <a:t>Mozilla (Mosaic killer) – lak za koriscenje nije patentiran</a:t>
            </a:r>
          </a:p>
          <a:p>
            <a:r>
              <a:rPr lang="sr-Latn-RS" sz="2000" dirty="0"/>
              <a:t>1995. Microsoft licencira kod Mozile i pravi svoj pretrazivač Internet Explorer</a:t>
            </a:r>
          </a:p>
          <a:p>
            <a:r>
              <a:rPr lang="sr-Latn-RS" sz="2000" dirty="0"/>
              <a:t>Promena u biznis modelu softvera, windows dolazi sa unapred instaliranim Internet Explorerom</a:t>
            </a:r>
          </a:p>
          <a:p>
            <a:r>
              <a:rPr lang="sr-Latn-RS" sz="2000" dirty="0"/>
              <a:t>2001. Microsoft izgubio tužbu u kojoj se tvrdi da održavaju ilegalni monopol na tržištu pretraživača</a:t>
            </a:r>
            <a:endParaRPr lang="en-GB" sz="2000" dirty="0"/>
          </a:p>
        </p:txBody>
      </p:sp>
      <p:pic>
        <p:nvPicPr>
          <p:cNvPr id="2050" name="Picture 2" descr="April 22, 1993: Mosaic Browser Lights Up Web With Color, Creativity | WIRED">
            <a:extLst>
              <a:ext uri="{FF2B5EF4-FFF2-40B4-BE49-F238E27FC236}">
                <a16:creationId xmlns:a16="http://schemas.microsoft.com/office/drawing/2014/main" id="{02505203-BC65-3E34-50C1-27706D0D6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473" y="3283869"/>
            <a:ext cx="4685133" cy="3126261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On this day in 1994, Netscape Navigator 1.0 started the web we know today">
            <a:extLst>
              <a:ext uri="{FF2B5EF4-FFF2-40B4-BE49-F238E27FC236}">
                <a16:creationId xmlns:a16="http://schemas.microsoft.com/office/drawing/2014/main" id="{DFAB2ACC-03A3-1CD5-BCEC-5A363C1B4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6945" y="3283869"/>
            <a:ext cx="4291582" cy="3126261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9952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1F0EA-E1D4-B4B6-80B2-9999F6EA7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858415"/>
          </a:xfrm>
        </p:spPr>
        <p:txBody>
          <a:bodyPr/>
          <a:lstStyle/>
          <a:p>
            <a:r>
              <a:rPr lang="sr-Latn-RS" dirty="0">
                <a:latin typeface="Bauhaus 93" panose="04030905020B02020C02" pitchFamily="82" charset="0"/>
              </a:rPr>
              <a:t>Moderni internet</a:t>
            </a:r>
            <a:endParaRPr lang="en-GB" dirty="0">
              <a:latin typeface="Bauhaus 93" panose="04030905020B02020C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6E601-AF60-0647-EE16-FEF8C2FBE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8416"/>
            <a:ext cx="7421959" cy="5318547"/>
          </a:xfrm>
        </p:spPr>
        <p:txBody>
          <a:bodyPr>
            <a:normAutofit/>
          </a:bodyPr>
          <a:lstStyle/>
          <a:p>
            <a:r>
              <a:rPr lang="sr-Latn-RS" sz="2000" dirty="0"/>
              <a:t>Eksplozija pojavom dial up tehnologije</a:t>
            </a:r>
          </a:p>
          <a:p>
            <a:r>
              <a:rPr lang="sr-Latn-RS" sz="2000" dirty="0"/>
              <a:t>AOL vs Microsoft, 50% proizvedenih diskova u americi koristili su se za AOL</a:t>
            </a:r>
          </a:p>
          <a:p>
            <a:r>
              <a:rPr lang="sr-Latn-RS" sz="2000" dirty="0"/>
              <a:t>Kompanije plaćaju milione kako bi se našle na prvoj stranici AOL-a</a:t>
            </a:r>
          </a:p>
          <a:p>
            <a:r>
              <a:rPr lang="sr-Latn-RS" sz="2000" dirty="0"/>
              <a:t>Prva click reklama na internetu 1994.</a:t>
            </a:r>
          </a:p>
          <a:p>
            <a:r>
              <a:rPr lang="sr-Latn-RS" sz="2000" dirty="0"/>
              <a:t>Vizija interneta kao novog „divljeg zapada“</a:t>
            </a:r>
          </a:p>
          <a:p>
            <a:r>
              <a:rPr lang="sr-Latn-RS" sz="2000" dirty="0"/>
              <a:t>AuctionWeb (Ebay) utopija slobodnog tržišta</a:t>
            </a:r>
          </a:p>
          <a:p>
            <a:r>
              <a:rPr lang="sr-Latn-RS" sz="2000" dirty="0"/>
              <a:t>Yahoo! postaje najposećeniji sajt. Novi model zarade postaju reklame.</a:t>
            </a:r>
          </a:p>
          <a:p>
            <a:endParaRPr lang="en-GB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E65D21-2018-9472-9191-21D399E4C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984" y="160708"/>
            <a:ext cx="4770041" cy="41387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074" name="Picture 2" descr="Yahoo's new advertising identity and 30th anniversary - Ad Age">
            <a:extLst>
              <a:ext uri="{FF2B5EF4-FFF2-40B4-BE49-F238E27FC236}">
                <a16:creationId xmlns:a16="http://schemas.microsoft.com/office/drawing/2014/main" id="{43EF173E-EA56-6606-E9A9-32E7E1178A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293"/>
          <a:stretch>
            <a:fillRect/>
          </a:stretch>
        </p:blipFill>
        <p:spPr bwMode="auto">
          <a:xfrm>
            <a:off x="3557587" y="4762305"/>
            <a:ext cx="5076825" cy="15265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96893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87119-90C1-F3D6-63AE-B5883D8AC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942391"/>
          </a:xfrm>
        </p:spPr>
        <p:txBody>
          <a:bodyPr/>
          <a:lstStyle/>
          <a:p>
            <a:pPr algn="ctr"/>
            <a:r>
              <a:rPr lang="sr-Latn-RS" dirty="0">
                <a:latin typeface="Bauhaus 93" panose="04030905020B02020C02" pitchFamily="82" charset="0"/>
              </a:rPr>
              <a:t>Algoritam preuzima</a:t>
            </a:r>
            <a:endParaRPr lang="en-GB" dirty="0">
              <a:latin typeface="Bauhaus 93" panose="04030905020B02020C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DFB92-1355-6286-AFA1-AE7D39C43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9755"/>
            <a:ext cx="12192000" cy="5337208"/>
          </a:xfrm>
        </p:spPr>
        <p:txBody>
          <a:bodyPr/>
          <a:lstStyle/>
          <a:p>
            <a:r>
              <a:rPr lang="sr-Latn-RS" dirty="0"/>
              <a:t>Google implementira pretragu na osnovu algoritma konekcija.</a:t>
            </a:r>
          </a:p>
          <a:p>
            <a:r>
              <a:rPr lang="sr-Latn-RS" dirty="0"/>
              <a:t>Yahoo! pokušava da kupi Google.</a:t>
            </a:r>
          </a:p>
          <a:p>
            <a:r>
              <a:rPr lang="sr-Latn-RS" dirty="0"/>
              <a:t>Google ne podržava model reklama jer preferira prodavce, a ne korisnike. Cilj je potpuna transparentnost.</a:t>
            </a:r>
          </a:p>
          <a:p>
            <a:r>
              <a:rPr lang="sr-Latn-RS" dirty="0"/>
              <a:t>Google pod pritiskom investitora implementira reklamni sadržaj.</a:t>
            </a:r>
          </a:p>
          <a:p>
            <a:endParaRPr lang="en-GB" dirty="0"/>
          </a:p>
        </p:txBody>
      </p:sp>
      <p:pic>
        <p:nvPicPr>
          <p:cNvPr id="4098" name="Picture 2" descr="How Google's homepage has changed over the last 20 years | by Travel  Planner VIP | UX Collective">
            <a:extLst>
              <a:ext uri="{FF2B5EF4-FFF2-40B4-BE49-F238E27FC236}">
                <a16:creationId xmlns:a16="http://schemas.microsoft.com/office/drawing/2014/main" id="{E922D8F9-E431-9F38-1DB5-BD15710D1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1812" y="3529792"/>
            <a:ext cx="4808376" cy="284706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33134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C3CEE-28DB-3D36-F182-62A116C24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905068"/>
          </a:xfrm>
        </p:spPr>
        <p:txBody>
          <a:bodyPr/>
          <a:lstStyle/>
          <a:p>
            <a:pPr algn="ctr"/>
            <a:r>
              <a:rPr lang="sr-Latn-RS" dirty="0">
                <a:latin typeface="Bauhaus 93" panose="04030905020B02020C02" pitchFamily="82" charset="0"/>
              </a:rPr>
              <a:t>Podaci kao resurs</a:t>
            </a:r>
            <a:endParaRPr lang="en-GB" dirty="0">
              <a:latin typeface="Bauhaus 93" panose="04030905020B02020C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4C3E0-E726-9025-EC73-7A9F25477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05069"/>
            <a:ext cx="12192000" cy="3890866"/>
          </a:xfrm>
        </p:spPr>
        <p:txBody>
          <a:bodyPr/>
          <a:lstStyle/>
          <a:p>
            <a:r>
              <a:rPr lang="sr-Latn-RS" sz="2000" dirty="0"/>
              <a:t>Google shvata da može više da naplati personalizovane reklame</a:t>
            </a:r>
          </a:p>
          <a:p>
            <a:r>
              <a:rPr lang="sr-Latn-RS" sz="2000" dirty="0"/>
              <a:t>„Problem sa Google-om je što vi morate da mu postavite pitanje, on već treba da zna šta vas zanima“ - Larry Page</a:t>
            </a:r>
          </a:p>
          <a:p>
            <a:r>
              <a:rPr lang="sr-Latn-RS" sz="2000" dirty="0"/>
              <a:t>Data exaust – svaka akcija korisnika je informacija za sistem</a:t>
            </a:r>
          </a:p>
          <a:p>
            <a:r>
              <a:rPr lang="sr-Latn-RS" sz="2000" dirty="0"/>
              <a:t>Gmail, Google maps, Google calendar, Google photos...</a:t>
            </a:r>
          </a:p>
          <a:p>
            <a:r>
              <a:rPr lang="sr-Latn-RS" sz="2000" dirty="0"/>
              <a:t>Google ima uvid u korisnike ravan ISP</a:t>
            </a:r>
          </a:p>
          <a:p>
            <a:r>
              <a:rPr lang="sr-Latn-RS" sz="2000" dirty="0"/>
              <a:t>Potrebna su 72 dana da bismo pročitali TaC za usluge koje koristimo u jednoj godini</a:t>
            </a:r>
          </a:p>
          <a:p>
            <a:r>
              <a:rPr lang="sr-Latn-RS" sz="2000" dirty="0"/>
              <a:t>Amazon koristi podatke o prodaju kako bi napravio svoje proizvode</a:t>
            </a:r>
            <a:endParaRPr lang="en-GB" sz="2000" dirty="0"/>
          </a:p>
          <a:p>
            <a:endParaRPr lang="en-GB" dirty="0"/>
          </a:p>
        </p:txBody>
      </p:sp>
      <p:pic>
        <p:nvPicPr>
          <p:cNvPr id="5122" name="Picture 2" descr="The world's most valuable resource is no longer oil, but data">
            <a:extLst>
              <a:ext uri="{FF2B5EF4-FFF2-40B4-BE49-F238E27FC236}">
                <a16:creationId xmlns:a16="http://schemas.microsoft.com/office/drawing/2014/main" id="{A677EC30-C4B6-2063-CE88-A0F635CDE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32" y="3994202"/>
            <a:ext cx="4646936" cy="26163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707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1DA9A-A2AC-AA8D-0EEC-7A5FE2558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942391"/>
          </a:xfrm>
        </p:spPr>
        <p:txBody>
          <a:bodyPr/>
          <a:lstStyle/>
          <a:p>
            <a:pPr algn="ctr"/>
            <a:r>
              <a:rPr lang="sr-Latn-RS" dirty="0">
                <a:latin typeface="Bauhaus 93" panose="04030905020B02020C02" pitchFamily="82" charset="0"/>
              </a:rPr>
              <a:t>Monopol nad prijateljstvom</a:t>
            </a:r>
            <a:endParaRPr lang="en-GB" dirty="0">
              <a:latin typeface="Bauhaus 93" panose="04030905020B02020C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F987E-E5C3-E730-4FCF-98C2CAA5F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77078"/>
            <a:ext cx="12192000" cy="5299885"/>
          </a:xfrm>
        </p:spPr>
        <p:txBody>
          <a:bodyPr>
            <a:normAutofit/>
          </a:bodyPr>
          <a:lstStyle/>
          <a:p>
            <a:r>
              <a:rPr lang="sr-Latn-RS" sz="2000" dirty="0"/>
              <a:t>Myspace omogućava korisnicima da naprave svoju ličnu stranicu lakše nego ikada</a:t>
            </a:r>
          </a:p>
          <a:p>
            <a:r>
              <a:rPr lang="sr-Latn-RS" sz="2000" dirty="0"/>
              <a:t>Facebook uvodi koncept home feed – sve što vas zanima na jednom mestu</a:t>
            </a:r>
          </a:p>
          <a:p>
            <a:r>
              <a:rPr lang="sr-Latn-RS" sz="2000" dirty="0"/>
              <a:t>Problem privatnosti</a:t>
            </a:r>
          </a:p>
          <a:p>
            <a:r>
              <a:rPr lang="sr-Latn-RS" sz="2000" dirty="0"/>
              <a:t>Iako su ljudi javno oštro kritikovali home feed Facebook je doživljavao eksponencijalni rast</a:t>
            </a:r>
          </a:p>
          <a:p>
            <a:r>
              <a:rPr lang="sr-Latn-RS" sz="2000" dirty="0"/>
              <a:t>2010. Facebook implementira lajkove, 4 miliona lajkova svakog minuta</a:t>
            </a:r>
          </a:p>
          <a:p>
            <a:r>
              <a:rPr lang="sr-Latn-RS" sz="2000" dirty="0"/>
              <a:t>Instagram, WhatsApp, Oculus ...</a:t>
            </a:r>
            <a:endParaRPr lang="en-GB" sz="2000" dirty="0"/>
          </a:p>
        </p:txBody>
      </p:sp>
      <p:pic>
        <p:nvPicPr>
          <p:cNvPr id="6146" name="Picture 2" descr="MySpace can bring shy kids out of their shells">
            <a:extLst>
              <a:ext uri="{FF2B5EF4-FFF2-40B4-BE49-F238E27FC236}">
                <a16:creationId xmlns:a16="http://schemas.microsoft.com/office/drawing/2014/main" id="{42EB5E5C-7DE8-46A1-F386-EB1DE40E6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296" y="3648269"/>
            <a:ext cx="4103407" cy="284583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FDFE6F-820C-275D-9B5D-EE1DAB378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479" y="5859038"/>
            <a:ext cx="743533" cy="6358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CBE0D0-1C6C-52DD-6736-244B14C263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304" y="5232519"/>
            <a:ext cx="743533" cy="635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5CB2AD-8EEF-9818-3652-ABF58D1889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4987" y="5071187"/>
            <a:ext cx="743533" cy="6358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3C7F11-3A6C-D940-BD3D-E77FC5473B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827" y="6222151"/>
            <a:ext cx="743533" cy="6358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C988AA-222D-E10F-61C0-5D00B6C19F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40" y="5858257"/>
            <a:ext cx="743533" cy="6358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70366D-11E5-6D32-6FDA-2AAD88EA8D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875" y="6203489"/>
            <a:ext cx="743533" cy="6358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7FB9B6-BF60-04FA-29C5-EB92DF59A4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817" y="5753689"/>
            <a:ext cx="743533" cy="6358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3D1279-25CA-9479-021C-832C746392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5436" y="6222151"/>
            <a:ext cx="743533" cy="6358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ACFC25C-796D-7817-BAED-2A75F65CDA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5437" y="5071186"/>
            <a:ext cx="743533" cy="635849"/>
          </a:xfrm>
          <a:prstGeom prst="rect">
            <a:avLst/>
          </a:prstGeom>
        </p:spPr>
      </p:pic>
      <p:pic>
        <p:nvPicPr>
          <p:cNvPr id="1026" name="Picture 2" descr="Acquisition Addiction: Facebook's Financials In Perspective - infographic">
            <a:extLst>
              <a:ext uri="{FF2B5EF4-FFF2-40B4-BE49-F238E27FC236}">
                <a16:creationId xmlns:a16="http://schemas.microsoft.com/office/drawing/2014/main" id="{6EA8C5CC-A94C-95D3-7E1A-74D3888745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4" t="10407" r="5953" b="5591"/>
          <a:stretch>
            <a:fillRect/>
          </a:stretch>
        </p:blipFill>
        <p:spPr bwMode="auto">
          <a:xfrm>
            <a:off x="8963867" y="2742133"/>
            <a:ext cx="3012980" cy="1812272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1088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D5A6F-43CB-8FD2-5695-D435BD881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70383"/>
          </a:xfrm>
        </p:spPr>
        <p:txBody>
          <a:bodyPr/>
          <a:lstStyle/>
          <a:p>
            <a:r>
              <a:rPr lang="sr-Latn-RS" dirty="0">
                <a:latin typeface="Bauhaus 93" panose="04030905020B02020C02" pitchFamily="82" charset="0"/>
              </a:rPr>
              <a:t>Efekat ogradjene bašte</a:t>
            </a:r>
            <a:endParaRPr lang="en-GB" dirty="0">
              <a:latin typeface="Bauhaus 93" panose="04030905020B02020C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262DA-A8C7-564E-677E-D5EB80DA1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0384"/>
            <a:ext cx="12192000" cy="5206579"/>
          </a:xfrm>
        </p:spPr>
        <p:txBody>
          <a:bodyPr/>
          <a:lstStyle/>
          <a:p>
            <a:r>
              <a:rPr lang="sr-Latn-RS" dirty="0"/>
              <a:t>Apple, Google, Meta, Microsoft, Amazon, Airbnb, Uber ...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AEAF24-1608-87F6-7843-3310DAE86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32" y="1810137"/>
            <a:ext cx="5215814" cy="44880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FD4660-E874-A431-6502-9B6F2E81C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362" y="1815354"/>
            <a:ext cx="4967606" cy="44828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6897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D498-C035-F49B-0523-BAA9DC57B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dirty="0">
                <a:latin typeface="Bauhaus 93" panose="04030905020B02020C02" pitchFamily="82" charset="0"/>
              </a:rPr>
              <a:t>Open source kao rešenje</a:t>
            </a:r>
            <a:endParaRPr lang="en-GB" dirty="0">
              <a:latin typeface="Bauhaus 93" panose="04030905020B02020C02" pitchFamily="82" charset="0"/>
            </a:endParaRP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DB7C7EBD-CCF4-D41F-7F82-4A9454A5D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54" y="1836592"/>
            <a:ext cx="2265046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LibreOffice - Review 2026 - PCMag UK">
            <a:extLst>
              <a:ext uri="{FF2B5EF4-FFF2-40B4-BE49-F238E27FC236}">
                <a16:creationId xmlns:a16="http://schemas.microsoft.com/office/drawing/2014/main" id="{8A3FD11A-437F-FB2F-7F87-36FF0E7B756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753" y="2165087"/>
            <a:ext cx="2875384" cy="161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VLC for Fire - App on Amazon Appstore">
            <a:extLst>
              <a:ext uri="{FF2B5EF4-FFF2-40B4-BE49-F238E27FC236}">
                <a16:creationId xmlns:a16="http://schemas.microsoft.com/office/drawing/2014/main" id="{EAF47D9B-744C-C50D-5C42-FA41DE648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6246" y="1754589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Firefox - Wikipedia">
            <a:extLst>
              <a:ext uri="{FF2B5EF4-FFF2-40B4-BE49-F238E27FC236}">
                <a16:creationId xmlns:a16="http://schemas.microsoft.com/office/drawing/2014/main" id="{1A3E8DCE-6D62-846A-C3B5-37102B3FB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548" y="4440476"/>
            <a:ext cx="2166257" cy="2166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>
            <a:extLst>
              <a:ext uri="{FF2B5EF4-FFF2-40B4-BE49-F238E27FC236}">
                <a16:creationId xmlns:a16="http://schemas.microsoft.com/office/drawing/2014/main" id="{2D39DEC5-C76C-2B5A-F5F1-E0ACCC478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721" y="4579792"/>
            <a:ext cx="1885879" cy="1887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2" name="Picture 14" descr="Wikipedia logo - Wikipedia">
            <a:extLst>
              <a:ext uri="{FF2B5EF4-FFF2-40B4-BE49-F238E27FC236}">
                <a16:creationId xmlns:a16="http://schemas.microsoft.com/office/drawing/2014/main" id="{734E72E1-3076-8236-327D-C2375FD1C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5138" y="4425508"/>
            <a:ext cx="2381250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4" name="Picture 16">
            <a:extLst>
              <a:ext uri="{FF2B5EF4-FFF2-40B4-BE49-F238E27FC236}">
                <a16:creationId xmlns:a16="http://schemas.microsoft.com/office/drawing/2014/main" id="{E167C1DC-F717-127F-8AE9-64974FCB0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500" y="1836592"/>
            <a:ext cx="2278208" cy="2278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7487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8A0FF-8A16-AEA1-A4F5-41C879DEB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>
                <a:latin typeface="Bauhaus 93" panose="04030905020B02020C02" pitchFamily="82" charset="0"/>
              </a:rPr>
              <a:t>Pitanja za razmišljanje</a:t>
            </a:r>
            <a:endParaRPr lang="en-GB" dirty="0">
              <a:latin typeface="Bauhaus 93" panose="04030905020B02020C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CD11D-DFB8-DBC7-A59C-DF9B3E638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Privatizacija interneta je donela više dobrog nego lošeg.</a:t>
            </a:r>
          </a:p>
          <a:p>
            <a:r>
              <a:rPr lang="sr-Latn-RS" dirty="0"/>
              <a:t>Internet je najbolji kada nije regulisan.</a:t>
            </a:r>
          </a:p>
          <a:p>
            <a:r>
              <a:rPr lang="sr-Latn-RS" dirty="0"/>
              <a:t>Svako na internetu može da uspe ako ima dovoljno dobru ideju.</a:t>
            </a:r>
          </a:p>
          <a:p>
            <a:r>
              <a:rPr lang="sr-Latn-RS" dirty="0"/>
              <a:t>Spreman/na sam da dam svoje podatke radi boljeg korisničkog iskustva.</a:t>
            </a:r>
          </a:p>
          <a:p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1822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476</Words>
  <Application>Microsoft Office PowerPoint</Application>
  <PresentationFormat>Widescreen</PresentationFormat>
  <Paragraphs>52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Bahnschrift Condensed</vt:lpstr>
      <vt:lpstr>Bauhaus 93</vt:lpstr>
      <vt:lpstr>Calibri</vt:lpstr>
      <vt:lpstr>Calibri Light</vt:lpstr>
      <vt:lpstr>Office Theme</vt:lpstr>
      <vt:lpstr>Korporatizacija interneta</vt:lpstr>
      <vt:lpstr>Internet nekada</vt:lpstr>
      <vt:lpstr>Rat browsera</vt:lpstr>
      <vt:lpstr>Moderni internet</vt:lpstr>
      <vt:lpstr>Algoritam preuzima</vt:lpstr>
      <vt:lpstr>Podaci kao resurs</vt:lpstr>
      <vt:lpstr>Monopol nad prijateljstvom</vt:lpstr>
      <vt:lpstr>Efekat ogradjene bašte</vt:lpstr>
      <vt:lpstr>Open source kao rešenje</vt:lpstr>
      <vt:lpstr>Pitanja za razmišljanje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Viktor Šević</dc:creator>
  <cp:lastModifiedBy>Viktor Šević</cp:lastModifiedBy>
  <cp:revision>4</cp:revision>
  <dcterms:created xsi:type="dcterms:W3CDTF">2026-06-15T13:44:13Z</dcterms:created>
  <dcterms:modified xsi:type="dcterms:W3CDTF">2026-06-16T02:33:05Z</dcterms:modified>
</cp:coreProperties>
</file>