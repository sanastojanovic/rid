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2" r:id="rId4"/>
    <p:sldId id="258" r:id="rId5"/>
    <p:sldId id="259" r:id="rId6"/>
    <p:sldId id="260" r:id="rId7"/>
    <p:sldId id="269" r:id="rId8"/>
    <p:sldId id="261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A7523-6CD2-55E0-1473-31941BCFC6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A0D4DC-A94A-EF72-138E-B7139C12E1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98C8A5-F272-7093-61DB-C8CD47545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B6EBB-FFC2-4C8C-83B1-020662C2AE18}" type="datetimeFigureOut">
              <a:rPr lang="en-US" smtClean="0"/>
              <a:t>27-Sep-26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E26997-F5DF-49CB-171C-17E3002BAC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977D8C-B707-F876-5FBC-EF38C0B70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5368F-481F-4A82-870B-A5F5D1023DC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6256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6C645-B90B-DF69-2D80-6B309DEC7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D391DB-C42A-5E0F-4D9B-98B64A1B0E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ED36B9-65C2-FC92-80C5-9999A426B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B6EBB-FFC2-4C8C-83B1-020662C2AE18}" type="datetimeFigureOut">
              <a:rPr lang="en-US" smtClean="0"/>
              <a:t>27-Sep-26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188094-3EF6-E5A6-AE88-045B73EFB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259CAC-AF49-38CB-67A7-664A8522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5368F-481F-4A82-870B-A5F5D1023DC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80473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93027-4D75-4C82-E4C8-B8294ADE72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C25DA8-5970-F7EA-4201-A45FB944C4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524B09-FDF8-6348-61A4-F9BB2C7FED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B6EBB-FFC2-4C8C-83B1-020662C2AE18}" type="datetimeFigureOut">
              <a:rPr lang="en-US" smtClean="0"/>
              <a:t>27-Sep-26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D70360-9FA7-0C3E-2C80-2209B176B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9B5389-7B79-5797-8F13-CD0AC3C06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5368F-481F-4A82-870B-A5F5D1023DC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93953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8C34E-07D5-FDAC-FF68-67C8A14F9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C751AF-A3B4-05C1-27C4-B101FBD20D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B3BCAD-2C37-8E09-F109-52C90C0BC2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E28479-7235-A36E-066B-19CE7200EC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B6EBB-FFC2-4C8C-83B1-020662C2AE18}" type="datetimeFigureOut">
              <a:rPr lang="en-US" smtClean="0"/>
              <a:t>27-Sep-26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A2D431-63A1-F627-FD9F-1933348C1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0371F7-1309-9834-AF4D-20C567F48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5368F-481F-4A82-870B-A5F5D1023DC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81683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F63A1-5161-C105-0B51-9DB3A3102B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76FAF4-D5E7-975B-38E0-45B4C043E4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B58DAD-BB67-4926-229E-E0CCAE3643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8C2F74-1B63-4486-FBD3-A1CC91D986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D22E1D-424F-AEFF-3287-9F1DD81738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59DA62-37DA-594E-9AA6-533AFE13D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B6EBB-FFC2-4C8C-83B1-020662C2AE18}" type="datetimeFigureOut">
              <a:rPr lang="en-US" smtClean="0"/>
              <a:t>27-Sep-26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1043C0A-BB6D-BB67-B815-E15652C6E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8192F2-16A2-5057-5C12-520720932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5368F-481F-4A82-870B-A5F5D1023DC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81080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216C8-6F50-A472-CB01-F86C325BE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450CB2-9E5B-EF51-279B-199D4EB7A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B6EBB-FFC2-4C8C-83B1-020662C2AE18}" type="datetimeFigureOut">
              <a:rPr lang="en-US" smtClean="0"/>
              <a:t>27-Sep-26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163A52-B65F-BF32-FE4D-BDC01FBF7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70DC3B-A0CF-D00D-7C0F-325ED748E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5368F-481F-4A82-870B-A5F5D1023DC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07860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7AB1BB-DFFA-D02C-1F6B-B0A6C6187A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B6EBB-FFC2-4C8C-83B1-020662C2AE18}" type="datetimeFigureOut">
              <a:rPr lang="en-US" smtClean="0"/>
              <a:t>27-Sep-26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5A7BF0-2641-B9B8-7F59-3794B10A9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50282C-BE1D-A247-E730-92A34CEE9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5368F-481F-4A82-870B-A5F5D1023DC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844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EA993-E177-5809-5F52-D7DED0194E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FDE7E0-7A77-DD3F-CBDE-9BC7AA11E3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B2DC25-064A-426D-4E62-6789C9BE14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37BCC4-50A0-0F67-96AB-FF11F67CC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B6EBB-FFC2-4C8C-83B1-020662C2AE18}" type="datetimeFigureOut">
              <a:rPr lang="en-US" smtClean="0"/>
              <a:t>27-Sep-26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E53DC6-B93D-49D4-C78C-5DD014BCF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BA5A74-28A6-D5B8-4020-E45FA62C2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5368F-481F-4A82-870B-A5F5D1023DC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76911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B9427-8E3B-ECC2-6DE8-0128EC412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12BC6D-AA48-C471-C5CD-A8EEC20561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8CEE6A-1123-22C0-CD75-46EAD7B59B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B2D009-64D2-0A5A-1A44-BBABE721D5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B6EBB-FFC2-4C8C-83B1-020662C2AE18}" type="datetimeFigureOut">
              <a:rPr lang="en-US" smtClean="0"/>
              <a:t>27-Sep-26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E07DA1-4C8A-8E55-10B1-8F56A621C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4522E7-1F00-5043-2121-CE06F3A84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5368F-481F-4A82-870B-A5F5D1023DC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15341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E1095-2167-C6A3-E723-3A29AA84F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1BCA30-A1F5-BEE7-E60A-87A5394D39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C8534D-B4CA-F5EA-EE4D-514E1F1D2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B6EBB-FFC2-4C8C-83B1-020662C2AE18}" type="datetimeFigureOut">
              <a:rPr lang="en-US" smtClean="0"/>
              <a:t>27-Sep-26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C87871-7CE5-FEFC-25D1-44EF5D5DF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B9F85C-ECFE-2DF3-9E08-D6F6F6C53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5368F-481F-4A82-870B-A5F5D1023DC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99303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EB22FCB-48EB-8CB2-747E-99FE1F1014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D10DAC-11F8-A054-FA08-81A1DB0BB1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774A97-E786-EA70-DFCB-0D81276D2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B6EBB-FFC2-4C8C-83B1-020662C2AE18}" type="datetimeFigureOut">
              <a:rPr lang="en-US" smtClean="0"/>
              <a:t>27-Sep-26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CFFEE6-BE1D-6EE6-7560-6D99FF89D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01C9BF-887D-D655-DD3A-E32231EC8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5368F-481F-4A82-870B-A5F5D1023DC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64205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tile tx="0" ty="0" sx="50000" sy="55000" flip="none" algn="t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99A2CC-B761-E823-7802-57486341E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D6A0D0-DBCF-2230-1FE4-3992A3D179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024792-3724-9CD6-39A2-FF1D0DB16F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CB6EBB-FFC2-4C8C-83B1-020662C2AE18}" type="datetimeFigureOut">
              <a:rPr lang="en-US" smtClean="0"/>
              <a:t>27-Sep-26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50F2BA-1F05-F7AF-29F6-4F87E57EFD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80B815-EFD7-0016-4A67-F629FCE018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E5368F-481F-4A82-870B-A5F5D1023DC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085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18525-33B6-0790-89C2-7ADC1082A0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67881"/>
            <a:ext cx="9144000" cy="1529404"/>
          </a:xfrm>
        </p:spPr>
        <p:txBody>
          <a:bodyPr/>
          <a:lstStyle/>
          <a:p>
            <a:r>
              <a:rPr lang="en-US" dirty="0">
                <a:latin typeface="Inter Medium" panose="02000503000000020004" pitchFamily="2" charset="0"/>
                <a:ea typeface="Inter Medium" panose="02000503000000020004" pitchFamily="2" charset="0"/>
              </a:rPr>
              <a:t>Monero kao kriptovaluta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1949CE-3969-131D-05C1-68623F462D5A}"/>
              </a:ext>
            </a:extLst>
          </p:cNvPr>
          <p:cNvSpPr txBox="1"/>
          <p:nvPr/>
        </p:nvSpPr>
        <p:spPr>
          <a:xfrm>
            <a:off x="107004" y="5097293"/>
            <a:ext cx="528211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Inter Medium" panose="02000503000000020004" pitchFamily="2" charset="0"/>
                <a:ea typeface="Inter Medium" panose="02000503000000020004" pitchFamily="2" charset="0"/>
              </a:rPr>
              <a:t>Aleksandar Stoj</a:t>
            </a:r>
            <a:r>
              <a:rPr lang="sr-Latn-RS" sz="3200" dirty="0">
                <a:latin typeface="Inter Medium" panose="02000503000000020004" pitchFamily="2" charset="0"/>
                <a:ea typeface="Inter Medium" panose="02000503000000020004" pitchFamily="2" charset="0"/>
              </a:rPr>
              <a:t>čić</a:t>
            </a:r>
          </a:p>
          <a:p>
            <a:r>
              <a:rPr lang="sr-Latn-RS" sz="3200" dirty="0">
                <a:latin typeface="Inter Medium" panose="02000503000000020004" pitchFamily="2" charset="0"/>
                <a:ea typeface="Inter Medium" panose="02000503000000020004" pitchFamily="2" charset="0"/>
              </a:rPr>
              <a:t>126/2021</a:t>
            </a:r>
            <a:endParaRPr lang="en-US" sz="3200" dirty="0">
              <a:latin typeface="Inter Medium" panose="02000503000000020004" pitchFamily="2" charset="0"/>
              <a:ea typeface="Inter Medium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60083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55332D2-0EC9-2AAA-148D-81017E8C48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2323" y="267411"/>
            <a:ext cx="8430902" cy="632317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2180276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DA399E3-12A7-0D3C-57FF-F549A2407B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3461" y="1087265"/>
            <a:ext cx="6519918" cy="565399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FCD78B4-4261-3761-C1B4-B0F10905D14C}"/>
              </a:ext>
            </a:extLst>
          </p:cNvPr>
          <p:cNvSpPr txBox="1"/>
          <p:nvPr/>
        </p:nvSpPr>
        <p:spPr>
          <a:xfrm>
            <a:off x="4036979" y="204281"/>
            <a:ext cx="90369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sz="4000" dirty="0">
                <a:latin typeface="Inter Medium" panose="02000503000000020004" pitchFamily="2" charset="0"/>
                <a:ea typeface="Inter Medium" panose="02000503000000020004" pitchFamily="2" charset="0"/>
              </a:rPr>
              <a:t>Peer-to-Peer mreža</a:t>
            </a:r>
            <a:endParaRPr lang="en-US" sz="4000" dirty="0">
              <a:latin typeface="Inter Medium" panose="02000503000000020004" pitchFamily="2" charset="0"/>
              <a:ea typeface="Inter Medium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22895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B6AD6571-2E8E-AE68-9713-131D3C96AB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48274"/>
            <a:ext cx="12192000" cy="249140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9D87C61-4B2A-125E-86FB-0CE2689FA2D1}"/>
              </a:ext>
            </a:extLst>
          </p:cNvPr>
          <p:cNvSpPr txBox="1"/>
          <p:nvPr/>
        </p:nvSpPr>
        <p:spPr>
          <a:xfrm>
            <a:off x="4669277" y="233464"/>
            <a:ext cx="95233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sz="4000" dirty="0">
                <a:latin typeface="Inter Medium" panose="02000503000000020004" pitchFamily="2" charset="0"/>
                <a:ea typeface="Inter Medium" panose="02000503000000020004" pitchFamily="2" charset="0"/>
              </a:rPr>
              <a:t>Blokčejn</a:t>
            </a:r>
            <a:endParaRPr lang="en-US" sz="4000" dirty="0">
              <a:latin typeface="Inter Medium" panose="02000503000000020004" pitchFamily="2" charset="0"/>
              <a:ea typeface="Inter Medium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77953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0BFB6-C99B-AB4B-64D6-598CF79E3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sr-Latn-RS" sz="4000" dirty="0">
                <a:latin typeface="Inter Medium" panose="02000503000000020004" pitchFamily="2" charset="0"/>
                <a:ea typeface="Inter Medium" panose="02000503000000020004" pitchFamily="2" charset="0"/>
              </a:rPr>
              <a:t>Transakcije</a:t>
            </a:r>
            <a:endParaRPr lang="en-US" sz="4000" dirty="0">
              <a:latin typeface="Inter Medium" panose="02000503000000020004" pitchFamily="2" charset="0"/>
              <a:ea typeface="Inter Medium" panose="02000503000000020004" pitchFamily="2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280D97D-335A-1D9A-48C1-AE28D6121F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9470" y="1514069"/>
            <a:ext cx="7826207" cy="514848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4276005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35976-C157-3014-30E8-0865A25A4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2013" y="8302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sr-Latn-RS" sz="4000" dirty="0">
                <a:latin typeface="Inter Medium" panose="02000503000000020004" pitchFamily="2" charset="0"/>
                <a:ea typeface="Inter Medium" panose="02000503000000020004" pitchFamily="2" charset="0"/>
              </a:rPr>
              <a:t>Rudarenje</a:t>
            </a:r>
            <a:endParaRPr lang="en-US" sz="4000" dirty="0">
              <a:latin typeface="Inter Medium" panose="02000503000000020004" pitchFamily="2" charset="0"/>
              <a:ea typeface="Inter Medium" panose="02000503000000020004" pitchFamily="2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915CD1B-E89C-2807-930C-CD6E77039E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7982" y="1150803"/>
            <a:ext cx="8733400" cy="478201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6039812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BF633-E58A-9CCA-5FA1-05801BC2F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 err="1">
                <a:latin typeface="Inter Medium" panose="02000503000000020004" pitchFamily="2" charset="0"/>
                <a:ea typeface="Inter Medium" panose="02000503000000020004" pitchFamily="2" charset="0"/>
              </a:rPr>
              <a:t>Bitkoin</a:t>
            </a:r>
            <a:endParaRPr lang="en-US" sz="4000" dirty="0">
              <a:latin typeface="Inter Medium" panose="02000503000000020004" pitchFamily="2" charset="0"/>
              <a:ea typeface="Inter Medium" panose="02000503000000020004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DDF6BE-61A2-7FA8-29FF-999C7DAE83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932" y="1253331"/>
            <a:ext cx="7323667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>
                <a:latin typeface="Inter Medium" panose="02000503000000020004" pitchFamily="2" charset="0"/>
                <a:ea typeface="Inter Medium" panose="02000503000000020004" pitchFamily="2" charset="0"/>
              </a:rPr>
              <a:t>Prva </a:t>
            </a:r>
            <a:r>
              <a:rPr lang="en-US" sz="3200" dirty="0" err="1">
                <a:latin typeface="Inter Medium" panose="02000503000000020004" pitchFamily="2" charset="0"/>
                <a:ea typeface="Inter Medium" panose="02000503000000020004" pitchFamily="2" charset="0"/>
              </a:rPr>
              <a:t>kriptovaluta</a:t>
            </a:r>
            <a:r>
              <a:rPr lang="en-US" sz="3200" dirty="0">
                <a:latin typeface="Inter Medium" panose="02000503000000020004" pitchFamily="2" charset="0"/>
                <a:ea typeface="Inter Medium" panose="02000503000000020004" pitchFamily="2" charset="0"/>
              </a:rPr>
              <a:t> u </a:t>
            </a:r>
            <a:r>
              <a:rPr lang="sr-Latn-RS" sz="3200" dirty="0">
                <a:latin typeface="Inter Medium" panose="02000503000000020004" pitchFamily="2" charset="0"/>
                <a:ea typeface="Inter Medium" panose="02000503000000020004" pitchFamily="2" charset="0"/>
              </a:rPr>
              <a:t>širokoj upotrebi</a:t>
            </a:r>
          </a:p>
          <a:p>
            <a:pPr marL="0" indent="0">
              <a:buNone/>
            </a:pPr>
            <a:endParaRPr lang="sr-Latn-RS" sz="3200" dirty="0">
              <a:latin typeface="Inter Medium" panose="02000503000000020004" pitchFamily="2" charset="0"/>
              <a:ea typeface="Inter Medium" panose="02000503000000020004" pitchFamily="2" charset="0"/>
            </a:endParaRPr>
          </a:p>
          <a:p>
            <a:pPr marL="0" indent="0">
              <a:buNone/>
            </a:pPr>
            <a:r>
              <a:rPr lang="sr-Latn-RS" sz="3200" dirty="0">
                <a:latin typeface="Inter Medium" panose="02000503000000020004" pitchFamily="2" charset="0"/>
                <a:ea typeface="Inter Medium" panose="02000503000000020004" pitchFamily="2" charset="0"/>
              </a:rPr>
              <a:t>Promovisana kao </a:t>
            </a:r>
            <a:r>
              <a:rPr lang="sr-Latn-RS" sz="3200" b="1" i="1" dirty="0">
                <a:latin typeface="Inter Medium" panose="02000503000000020004" pitchFamily="2" charset="0"/>
                <a:ea typeface="Inter Medium" panose="02000503000000020004" pitchFamily="2" charset="0"/>
              </a:rPr>
              <a:t>bezbedna</a:t>
            </a:r>
          </a:p>
          <a:p>
            <a:pPr marL="0" indent="0">
              <a:buNone/>
            </a:pPr>
            <a:endParaRPr lang="sr-Latn-RS" sz="3200" dirty="0">
              <a:latin typeface="Inter Medium" panose="02000503000000020004" pitchFamily="2" charset="0"/>
              <a:ea typeface="Inter Medium" panose="02000503000000020004" pitchFamily="2" charset="0"/>
            </a:endParaRPr>
          </a:p>
          <a:p>
            <a:pPr marL="0" indent="0">
              <a:buNone/>
            </a:pPr>
            <a:r>
              <a:rPr lang="sr-Latn-RS" sz="3200" dirty="0">
                <a:latin typeface="Inter Medium" panose="02000503000000020004" pitchFamily="2" charset="0"/>
                <a:ea typeface="Inter Medium" panose="02000503000000020004" pitchFamily="2" charset="0"/>
              </a:rPr>
              <a:t>Zbog neanonimnosti Bitkoina, FBI 2013. godine zatvara najveće crno tržište na internetu „Silk Road“</a:t>
            </a:r>
            <a:endParaRPr lang="en-US" sz="3200" dirty="0">
              <a:latin typeface="Inter Medium" panose="02000503000000020004" pitchFamily="2" charset="0"/>
              <a:ea typeface="Inter Medium" panose="02000503000000020004" pitchFamily="2" charset="0"/>
            </a:endParaRPr>
          </a:p>
        </p:txBody>
      </p:sp>
      <p:pic>
        <p:nvPicPr>
          <p:cNvPr id="4" name="Picture 3" descr="Bitcoin - Wikipedia">
            <a:extLst>
              <a:ext uri="{FF2B5EF4-FFF2-40B4-BE49-F238E27FC236}">
                <a16:creationId xmlns:a16="http://schemas.microsoft.com/office/drawing/2014/main" id="{C5D6F804-ED65-B1C7-4307-061CA938BD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9001" y="1019704"/>
            <a:ext cx="4631266" cy="4631266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72850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D288C-2C11-FD1B-6859-4F70D0C01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sr-Latn-RS" sz="4000" dirty="0">
                <a:latin typeface="Inter Medium" panose="02000503000000020004" pitchFamily="2" charset="0"/>
                <a:ea typeface="Inter Medium" panose="02000503000000020004" pitchFamily="2" charset="0"/>
              </a:rPr>
              <a:t>Bitkoin vs Monero</a:t>
            </a:r>
            <a:endParaRPr lang="en-US" sz="4000" dirty="0">
              <a:latin typeface="Inter Medium" panose="02000503000000020004" pitchFamily="2" charset="0"/>
              <a:ea typeface="Inter Medium" panose="02000503000000020004" pitchFamily="2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F1D9B19-36CB-1937-4751-69048A7BEA8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16200020"/>
              </p:ext>
            </p:extLst>
          </p:nvPr>
        </p:nvGraphicFramePr>
        <p:xfrm>
          <a:off x="406939" y="1166371"/>
          <a:ext cx="11378121" cy="404569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792707">
                  <a:extLst>
                    <a:ext uri="{9D8B030D-6E8A-4147-A177-3AD203B41FA5}">
                      <a16:colId xmlns:a16="http://schemas.microsoft.com/office/drawing/2014/main" val="2015332947"/>
                    </a:ext>
                  </a:extLst>
                </a:gridCol>
                <a:gridCol w="3792707">
                  <a:extLst>
                    <a:ext uri="{9D8B030D-6E8A-4147-A177-3AD203B41FA5}">
                      <a16:colId xmlns:a16="http://schemas.microsoft.com/office/drawing/2014/main" val="2963470168"/>
                    </a:ext>
                  </a:extLst>
                </a:gridCol>
                <a:gridCol w="3792707">
                  <a:extLst>
                    <a:ext uri="{9D8B030D-6E8A-4147-A177-3AD203B41FA5}">
                      <a16:colId xmlns:a16="http://schemas.microsoft.com/office/drawing/2014/main" val="1964957305"/>
                    </a:ext>
                  </a:extLst>
                </a:gridCol>
              </a:tblGrid>
              <a:tr h="595779">
                <a:tc>
                  <a:txBody>
                    <a:bodyPr/>
                    <a:lstStyle/>
                    <a:p>
                      <a:endParaRPr lang="en-US" dirty="0">
                        <a:latin typeface="Inter Medium" panose="02000503000000020004" pitchFamily="2" charset="0"/>
                        <a:ea typeface="Inter Medium" panose="02000503000000020004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r-Latn-RS" sz="3200" dirty="0">
                          <a:solidFill>
                            <a:schemeClr val="tx1"/>
                          </a:solidFill>
                          <a:latin typeface="Inter Medium" panose="02000503000000020004" pitchFamily="2" charset="0"/>
                          <a:ea typeface="Inter Medium" panose="02000503000000020004" pitchFamily="2" charset="0"/>
                        </a:rPr>
                        <a:t>Bitkoin</a:t>
                      </a:r>
                      <a:endParaRPr lang="en-US" sz="3200" dirty="0">
                        <a:solidFill>
                          <a:schemeClr val="tx1"/>
                        </a:solidFill>
                        <a:latin typeface="Inter Medium" panose="02000503000000020004" pitchFamily="2" charset="0"/>
                        <a:ea typeface="Inter Medium" panose="02000503000000020004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r-Latn-RS" sz="3200" dirty="0">
                          <a:solidFill>
                            <a:schemeClr val="tx1"/>
                          </a:solidFill>
                          <a:latin typeface="Inter Medium" panose="02000503000000020004" pitchFamily="2" charset="0"/>
                          <a:ea typeface="Inter Medium" panose="02000503000000020004" pitchFamily="2" charset="0"/>
                        </a:rPr>
                        <a:t>Monero</a:t>
                      </a:r>
                      <a:endParaRPr lang="en-US" sz="3200" dirty="0">
                        <a:solidFill>
                          <a:schemeClr val="tx1"/>
                        </a:solidFill>
                        <a:latin typeface="Inter Medium" panose="02000503000000020004" pitchFamily="2" charset="0"/>
                        <a:ea typeface="Inter Medium" panose="02000503000000020004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7097317"/>
                  </a:ext>
                </a:extLst>
              </a:tr>
              <a:tr h="595779">
                <a:tc>
                  <a:txBody>
                    <a:bodyPr/>
                    <a:lstStyle/>
                    <a:p>
                      <a:r>
                        <a:rPr lang="sr-Latn-RS" sz="3200" dirty="0">
                          <a:latin typeface="Inter Medium" panose="02000503000000020004" pitchFamily="2" charset="0"/>
                          <a:ea typeface="Inter Medium" panose="02000503000000020004" pitchFamily="2" charset="0"/>
                        </a:rPr>
                        <a:t>Tip blokčejna</a:t>
                      </a:r>
                      <a:endParaRPr lang="en-US" sz="3200" dirty="0">
                        <a:latin typeface="Inter Medium" panose="02000503000000020004" pitchFamily="2" charset="0"/>
                        <a:ea typeface="Inter Medium" panose="02000503000000020004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r-Latn-RS" sz="3200" dirty="0">
                          <a:latin typeface="Inter Medium" panose="02000503000000020004" pitchFamily="2" charset="0"/>
                          <a:ea typeface="Inter Medium" panose="02000503000000020004" pitchFamily="2" charset="0"/>
                        </a:rPr>
                        <a:t>Transparentan</a:t>
                      </a:r>
                      <a:endParaRPr lang="en-US" sz="3200" dirty="0">
                        <a:latin typeface="Inter Medium" panose="02000503000000020004" pitchFamily="2" charset="0"/>
                        <a:ea typeface="Inter Medium" panose="02000503000000020004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r-Latn-RS" sz="3200" dirty="0">
                          <a:latin typeface="Inter Medium" panose="02000503000000020004" pitchFamily="2" charset="0"/>
                          <a:ea typeface="Inter Medium" panose="02000503000000020004" pitchFamily="2" charset="0"/>
                        </a:rPr>
                        <a:t>Polutransparentan</a:t>
                      </a:r>
                      <a:endParaRPr lang="en-US" sz="3200" dirty="0">
                        <a:latin typeface="Inter Medium" panose="02000503000000020004" pitchFamily="2" charset="0"/>
                        <a:ea typeface="Inter Medium" panose="02000503000000020004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8501563"/>
                  </a:ext>
                </a:extLst>
              </a:tr>
              <a:tr h="595779">
                <a:tc>
                  <a:txBody>
                    <a:bodyPr/>
                    <a:lstStyle/>
                    <a:p>
                      <a:r>
                        <a:rPr lang="sr-Latn-RS" sz="3200" dirty="0">
                          <a:latin typeface="Inter Medium" panose="02000503000000020004" pitchFamily="2" charset="0"/>
                          <a:ea typeface="Inter Medium" panose="02000503000000020004" pitchFamily="2" charset="0"/>
                        </a:rPr>
                        <a:t>Adresa pošiljaoca</a:t>
                      </a:r>
                      <a:endParaRPr lang="en-US" sz="3200" dirty="0">
                        <a:latin typeface="Inter Medium" panose="02000503000000020004" pitchFamily="2" charset="0"/>
                        <a:ea typeface="Inter Medium" panose="02000503000000020004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r-Latn-RS" sz="3200" dirty="0">
                          <a:latin typeface="Inter Medium" panose="02000503000000020004" pitchFamily="2" charset="0"/>
                          <a:ea typeface="Inter Medium" panose="02000503000000020004" pitchFamily="2" charset="0"/>
                        </a:rPr>
                        <a:t>Javn</a:t>
                      </a:r>
                      <a:r>
                        <a:rPr lang="en-US" sz="3200" dirty="0">
                          <a:latin typeface="Inter Medium" panose="02000503000000020004" pitchFamily="2" charset="0"/>
                          <a:ea typeface="Inter Medium" panose="02000503000000020004" pitchFamily="2" charset="0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r-Latn-RS" sz="3200" dirty="0">
                          <a:latin typeface="Inter Medium" panose="02000503000000020004" pitchFamily="2" charset="0"/>
                          <a:ea typeface="Inter Medium" panose="02000503000000020004" pitchFamily="2" charset="0"/>
                        </a:rPr>
                        <a:t>Sakrivena</a:t>
                      </a:r>
                      <a:endParaRPr lang="en-US" sz="3200" dirty="0">
                        <a:latin typeface="Inter Medium" panose="02000503000000020004" pitchFamily="2" charset="0"/>
                        <a:ea typeface="Inter Medium" panose="02000503000000020004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484644"/>
                  </a:ext>
                </a:extLst>
              </a:tr>
              <a:tr h="595779">
                <a:tc>
                  <a:txBody>
                    <a:bodyPr/>
                    <a:lstStyle/>
                    <a:p>
                      <a:r>
                        <a:rPr lang="sr-Latn-RS" sz="3200" dirty="0">
                          <a:latin typeface="Inter Medium" panose="02000503000000020004" pitchFamily="2" charset="0"/>
                          <a:ea typeface="Inter Medium" panose="02000503000000020004" pitchFamily="2" charset="0"/>
                        </a:rPr>
                        <a:t>Adresa primaoca</a:t>
                      </a:r>
                      <a:endParaRPr lang="en-US" sz="3200" dirty="0">
                        <a:latin typeface="Inter Medium" panose="02000503000000020004" pitchFamily="2" charset="0"/>
                        <a:ea typeface="Inter Medium" panose="02000503000000020004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r-Latn-RS" sz="3200" dirty="0">
                          <a:latin typeface="Inter Medium" panose="02000503000000020004" pitchFamily="2" charset="0"/>
                          <a:ea typeface="Inter Medium" panose="02000503000000020004" pitchFamily="2" charset="0"/>
                        </a:rPr>
                        <a:t>Javn</a:t>
                      </a:r>
                      <a:r>
                        <a:rPr lang="en-US" sz="3200" dirty="0">
                          <a:latin typeface="Inter Medium" panose="02000503000000020004" pitchFamily="2" charset="0"/>
                          <a:ea typeface="Inter Medium" panose="02000503000000020004" pitchFamily="2" charset="0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r-Latn-RS" sz="3200" dirty="0">
                          <a:latin typeface="Inter Medium" panose="02000503000000020004" pitchFamily="2" charset="0"/>
                          <a:ea typeface="Inter Medium" panose="02000503000000020004" pitchFamily="2" charset="0"/>
                        </a:rPr>
                        <a:t>Sakrivena</a:t>
                      </a:r>
                      <a:endParaRPr lang="en-US" sz="3200" dirty="0">
                        <a:latin typeface="Inter Medium" panose="02000503000000020004" pitchFamily="2" charset="0"/>
                        <a:ea typeface="Inter Medium" panose="02000503000000020004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8895589"/>
                  </a:ext>
                </a:extLst>
              </a:tr>
              <a:tr h="595779">
                <a:tc>
                  <a:txBody>
                    <a:bodyPr/>
                    <a:lstStyle/>
                    <a:p>
                      <a:r>
                        <a:rPr lang="sr-Latn-RS" sz="3200" dirty="0">
                          <a:latin typeface="Inter Medium" panose="02000503000000020004" pitchFamily="2" charset="0"/>
                          <a:ea typeface="Inter Medium" panose="02000503000000020004" pitchFamily="2" charset="0"/>
                        </a:rPr>
                        <a:t>Iznos transakcije</a:t>
                      </a:r>
                      <a:endParaRPr lang="en-US" sz="3200" dirty="0">
                        <a:latin typeface="Inter Medium" panose="02000503000000020004" pitchFamily="2" charset="0"/>
                        <a:ea typeface="Inter Medium" panose="02000503000000020004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r-Latn-RS" sz="3200" dirty="0">
                          <a:latin typeface="Inter Medium" panose="02000503000000020004" pitchFamily="2" charset="0"/>
                          <a:ea typeface="Inter Medium" panose="02000503000000020004" pitchFamily="2" charset="0"/>
                        </a:rPr>
                        <a:t>Jav</a:t>
                      </a:r>
                      <a:r>
                        <a:rPr lang="en-US" sz="3200" dirty="0">
                          <a:latin typeface="Inter Medium" panose="02000503000000020004" pitchFamily="2" charset="0"/>
                          <a:ea typeface="Inter Medium" panose="02000503000000020004" pitchFamily="2" charset="0"/>
                        </a:rPr>
                        <a:t>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r-Latn-RS" sz="3200" dirty="0">
                          <a:latin typeface="Inter Medium" panose="02000503000000020004" pitchFamily="2" charset="0"/>
                          <a:ea typeface="Inter Medium" panose="02000503000000020004" pitchFamily="2" charset="0"/>
                        </a:rPr>
                        <a:t>Sakriven</a:t>
                      </a:r>
                      <a:endParaRPr lang="en-US" sz="3200" dirty="0">
                        <a:latin typeface="Inter Medium" panose="02000503000000020004" pitchFamily="2" charset="0"/>
                        <a:ea typeface="Inter Medium" panose="02000503000000020004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215344"/>
                  </a:ext>
                </a:extLst>
              </a:tr>
              <a:tr h="595779">
                <a:tc>
                  <a:txBody>
                    <a:bodyPr/>
                    <a:lstStyle/>
                    <a:p>
                      <a:r>
                        <a:rPr lang="sr-Latn-RS" sz="3200" dirty="0">
                          <a:latin typeface="Inter Medium" panose="02000503000000020004" pitchFamily="2" charset="0"/>
                          <a:ea typeface="Inter Medium" panose="02000503000000020004" pitchFamily="2" charset="0"/>
                        </a:rPr>
                        <a:t>Rudarenje</a:t>
                      </a:r>
                      <a:endParaRPr lang="en-US" sz="3200" dirty="0">
                        <a:latin typeface="Inter Medium" panose="02000503000000020004" pitchFamily="2" charset="0"/>
                        <a:ea typeface="Inter Medium" panose="02000503000000020004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r-Latn-RS" sz="3200" dirty="0">
                          <a:latin typeface="Inter Medium" panose="02000503000000020004" pitchFamily="2" charset="0"/>
                          <a:ea typeface="Inter Medium" panose="02000503000000020004" pitchFamily="2" charset="0"/>
                        </a:rPr>
                        <a:t>Favorizovani veliki igrači</a:t>
                      </a:r>
                      <a:endParaRPr lang="en-US" sz="3200" dirty="0">
                        <a:latin typeface="Inter Medium" panose="02000503000000020004" pitchFamily="2" charset="0"/>
                        <a:ea typeface="Inter Medium" panose="02000503000000020004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r-Latn-RS" sz="3200" dirty="0">
                          <a:latin typeface="Inter Medium" panose="02000503000000020004" pitchFamily="2" charset="0"/>
                          <a:ea typeface="Inter Medium" panose="02000503000000020004" pitchFamily="2" charset="0"/>
                        </a:rPr>
                        <a:t>Dostupno svima</a:t>
                      </a:r>
                      <a:endParaRPr lang="en-US" sz="3200" dirty="0">
                        <a:latin typeface="Inter Medium" panose="02000503000000020004" pitchFamily="2" charset="0"/>
                        <a:ea typeface="Inter Medium" panose="02000503000000020004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05892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5156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77A7B-F5E2-BC46-E196-BE5695A35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2035"/>
            <a:ext cx="10515600" cy="1325563"/>
          </a:xfrm>
        </p:spPr>
        <p:txBody>
          <a:bodyPr/>
          <a:lstStyle/>
          <a:p>
            <a:pPr algn="ctr"/>
            <a:r>
              <a:rPr lang="sr-Latn-RS" dirty="0">
                <a:latin typeface="Inter Medium" panose="02000503000000020004" pitchFamily="2" charset="0"/>
                <a:ea typeface="Inter Medium" panose="02000503000000020004" pitchFamily="2" charset="0"/>
              </a:rPr>
              <a:t>Stelth adrese</a:t>
            </a:r>
            <a:endParaRPr lang="en-US" dirty="0">
              <a:latin typeface="Inter Medium" panose="02000503000000020004" pitchFamily="2" charset="0"/>
              <a:ea typeface="Inter Medium" panose="02000503000000020004" pitchFamily="2" charset="0"/>
            </a:endParaRP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F00697D1-69CD-732F-A068-723AE70424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5563" y="1292228"/>
            <a:ext cx="8640874" cy="478806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7478251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04AB8-B8C4-68E5-8618-190200BF1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73294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sr-Latn-RS" sz="4000" dirty="0">
                <a:latin typeface="Inter Medium" panose="02000503000000020004" pitchFamily="2" charset="0"/>
                <a:ea typeface="Inter Medium" panose="02000503000000020004" pitchFamily="2" charset="0"/>
              </a:rPr>
              <a:t>Potpisi prstena</a:t>
            </a:r>
            <a:endParaRPr lang="en-US" sz="4000" dirty="0">
              <a:latin typeface="Inter Medium" panose="02000503000000020004" pitchFamily="2" charset="0"/>
              <a:ea typeface="Inter Medium" panose="02000503000000020004" pitchFamily="2" charset="0"/>
            </a:endParaRP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A7E69270-386F-4019-ACB5-0FFE243988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346" y="1194577"/>
            <a:ext cx="8384936" cy="500194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0687859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6EF63-020B-4635-CBB1-7E914BF66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76" y="102479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sr-Latn-RS" sz="4000" dirty="0">
                <a:latin typeface="Inter Medium" panose="02000503000000020004" pitchFamily="2" charset="0"/>
                <a:ea typeface="Inter Medium" panose="02000503000000020004" pitchFamily="2" charset="0"/>
              </a:rPr>
              <a:t>Ring Confidential Transactions (RingCT)</a:t>
            </a:r>
            <a:endParaRPr lang="en-US" sz="4000" dirty="0">
              <a:latin typeface="Inter Medium" panose="02000503000000020004" pitchFamily="2" charset="0"/>
              <a:ea typeface="Inter Medium" panose="02000503000000020004" pitchFamily="2" charset="0"/>
            </a:endParaRP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B99DD1E8-1833-EFB6-727A-BED12A8506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1370" y="1340493"/>
            <a:ext cx="6857999" cy="505201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236963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ECDB1-7D57-E19E-53A2-CD7400D64F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561" y="20823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sr-Latn-RS" sz="4000" dirty="0">
                <a:latin typeface="Inter Medium" panose="02000503000000020004" pitchFamily="2" charset="0"/>
                <a:ea typeface="Inter Medium" panose="02000503000000020004" pitchFamily="2" charset="0"/>
              </a:rPr>
              <a:t>Privatnost</a:t>
            </a:r>
            <a:endParaRPr lang="en-US" sz="4000" dirty="0">
              <a:latin typeface="Inter Medium" panose="02000503000000020004" pitchFamily="2" charset="0"/>
              <a:ea typeface="Inter Medium" panose="02000503000000020004" pitchFamily="2" charset="0"/>
            </a:endParaRPr>
          </a:p>
        </p:txBody>
      </p:sp>
      <p:pic>
        <p:nvPicPr>
          <p:cNvPr id="4" name="Content Placeholder 3" descr="Encrypted lock">
            <a:extLst>
              <a:ext uri="{FF2B5EF4-FFF2-40B4-BE49-F238E27FC236}">
                <a16:creationId xmlns:a16="http://schemas.microsoft.com/office/drawing/2014/main" id="{96584FEB-EBEC-505C-4531-841858F745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9191" y="1407335"/>
            <a:ext cx="4351338" cy="4351338"/>
          </a:xfrm>
          <a:prstGeom prst="rect">
            <a:avLst/>
          </a:prstGeom>
        </p:spPr>
      </p:pic>
      <p:pic>
        <p:nvPicPr>
          <p:cNvPr id="5" name="Picture 4" descr="Classified document">
            <a:extLst>
              <a:ext uri="{FF2B5EF4-FFF2-40B4-BE49-F238E27FC236}">
                <a16:creationId xmlns:a16="http://schemas.microsoft.com/office/drawing/2014/main" id="{D627BB6C-E65A-D46B-5D35-CA817F3C42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9215" y="1137714"/>
            <a:ext cx="51435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5186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47741-35EC-DA75-8531-5E29F8E75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195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sr-Latn-RS" sz="4000" dirty="0">
                <a:latin typeface="Inter Medium" panose="02000503000000020004" pitchFamily="2" charset="0"/>
                <a:ea typeface="Inter Medium" panose="02000503000000020004" pitchFamily="2" charset="0"/>
              </a:rPr>
              <a:t>Zloupotreba</a:t>
            </a:r>
            <a:endParaRPr lang="en-US" sz="4000" dirty="0">
              <a:latin typeface="Inter Medium" panose="02000503000000020004" pitchFamily="2" charset="0"/>
              <a:ea typeface="Inter Medium" panose="02000503000000020004" pitchFamily="2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0BF220B-8467-AADD-C95C-B58D72DA5C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5300" y="1110647"/>
            <a:ext cx="9481400" cy="547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4649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22F216-B65E-6C95-05DE-ED4F83EBA4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9681" y="1045473"/>
            <a:ext cx="10121585" cy="183319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4800" dirty="0">
                <a:latin typeface="Inter Medium" panose="02000503000000020004" pitchFamily="2" charset="0"/>
                <a:ea typeface="Inter Medium" panose="02000503000000020004" pitchFamily="2" charset="0"/>
              </a:rPr>
              <a:t>“Don’t buy Monero, use Monero”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93392A-70BA-B92B-B6AA-DC9AF37854EE}"/>
              </a:ext>
            </a:extLst>
          </p:cNvPr>
          <p:cNvSpPr txBox="1"/>
          <p:nvPr/>
        </p:nvSpPr>
        <p:spPr>
          <a:xfrm>
            <a:off x="2265329" y="3673310"/>
            <a:ext cx="83560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Inter Medium" panose="02000503000000020004" pitchFamily="2" charset="0"/>
                <a:ea typeface="Inter Medium" panose="02000503000000020004" pitchFamily="2" charset="0"/>
              </a:rPr>
              <a:t>https://www.getmonero.org/</a:t>
            </a:r>
          </a:p>
        </p:txBody>
      </p:sp>
    </p:spTree>
    <p:extLst>
      <p:ext uri="{BB962C8B-B14F-4D97-AF65-F5344CB8AC3E}">
        <p14:creationId xmlns:p14="http://schemas.microsoft.com/office/powerpoint/2010/main" val="40215142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529</TotalTime>
  <Words>97</Words>
  <Application>Microsoft Office PowerPoint</Application>
  <PresentationFormat>Widescreen</PresentationFormat>
  <Paragraphs>38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Inter Medium</vt:lpstr>
      <vt:lpstr>Office Theme</vt:lpstr>
      <vt:lpstr>Monero kao kriptovaluta</vt:lpstr>
      <vt:lpstr>PowerPoint Presentation</vt:lpstr>
      <vt:lpstr>PowerPoint Presentation</vt:lpstr>
      <vt:lpstr>PowerPoint Presentation</vt:lpstr>
      <vt:lpstr>Transakcije</vt:lpstr>
      <vt:lpstr>Rudarenje</vt:lpstr>
      <vt:lpstr>Bitkoin</vt:lpstr>
      <vt:lpstr>Bitkoin vs Monero</vt:lpstr>
      <vt:lpstr>Stelth adrese</vt:lpstr>
      <vt:lpstr>Potpisi prstena</vt:lpstr>
      <vt:lpstr>Ring Confidential Transactions (RingCT)</vt:lpstr>
      <vt:lpstr>Privatnost</vt:lpstr>
      <vt:lpstr>Zloupotreba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aleksandar</dc:creator>
  <cp:lastModifiedBy>aleksandar</cp:lastModifiedBy>
  <cp:revision>6</cp:revision>
  <dcterms:created xsi:type="dcterms:W3CDTF">2026-06-15T11:47:50Z</dcterms:created>
  <dcterms:modified xsi:type="dcterms:W3CDTF">2026-09-27T13:58:12Z</dcterms:modified>
</cp:coreProperties>
</file>