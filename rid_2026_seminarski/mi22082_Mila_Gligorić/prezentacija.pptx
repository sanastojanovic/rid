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embeddedFontLs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Outfit" panose="020B0604020202020204" charset="0"/>
      <p:regular r:id="rId30"/>
    </p:embeddedFont>
    <p:embeddedFont>
      <p:font typeface="Outfit SemiBold" panose="020B0604020202020204" charset="0"/>
      <p:regular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2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194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28" y="893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0859" y="891303"/>
            <a:ext cx="10306419" cy="24106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sr-Latn-RS" sz="32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Sistemski gubitak podataka u velikim jezičkim modelima kolaps modela i algoritamska diskriminacija 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9749" y="3585266"/>
            <a:ext cx="10288638" cy="1589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sr-Latn-RS" sz="18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Mila Gligorić </a:t>
            </a:r>
          </a:p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sr-Latn-RS" dirty="0">
                <a:solidFill>
                  <a:srgbClr val="FFFFFF"/>
                </a:solidFill>
                <a:latin typeface="Outfit" pitchFamily="34" charset="0"/>
              </a:rPr>
              <a:t>82/22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60803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01303" y="1390114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Teme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28760" y="4449107"/>
            <a:ext cx="23914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12250" y="4873799"/>
            <a:ext cx="2393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Budućnost i moguća rešenja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14440" y="4449107"/>
            <a:ext cx="23914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4440" y="3930694"/>
            <a:ext cx="2393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Socioetički aspekti kolapsa modela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00120" y="4449107"/>
            <a:ext cx="23914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8731" y="3303480"/>
            <a:ext cx="2393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Homogenizacija podataka i nuspojave kolapsa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449107"/>
            <a:ext cx="23914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1303" y="2541366"/>
            <a:ext cx="2393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Tehnički / matematički razlozi kolapsa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9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04315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190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Kolaps modela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341359" y="3427958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Razumevanje i proučavanje kolapsa modela - ključno za očuvanje raznolikog interneta i kvaliteta podataka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41359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Važnost proučavanja kolapsa modela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27825" y="3427959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Nastaje kada se AI modeli iznova i iznova treniraju na sintetičkim podacima (podacima takođe generisanim od strane AI modela)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7825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Nastanak kolapsa modela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1196" y="3427959"/>
            <a:ext cx="31546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Pojam definisan 2023. godine u radu "The Curse of Recursion: Training on Generated Data"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196" y="2916902"/>
            <a:ext cx="3157224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Definicija pojma Kolaps modela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890092"/>
            <a:ext cx="10093960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Važnost kolapsa modela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9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04315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190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9113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Kolaps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modela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-&gt;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degradacija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kvaliteta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podataka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-&gt;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(ne)održivost treniranja modela na podacima uzetim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web-a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(web scraping)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9113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Posledice kolapsa modela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3545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sr-Latn-R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Šta 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 dešava kada tekstovi generisani AI-jem preplave internet i „zagađuju“ ga?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3545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Ključno pitanje o AI generisanom sadržaju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2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(GPT, Gemini i sl.) - trajni i relevantni igrači u ekosistemu online teksta i slike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2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Veliki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jezički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modeli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97" y="2324244"/>
            <a:ext cx="11169592" cy="3796806"/>
          </a:xfrm>
          <a:prstGeom prst="rect">
            <a:avLst/>
          </a:prstGeom>
          <a:blipFill>
            <a:blip r:embed="rId5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98" y="2324244"/>
            <a:ext cx="3721080" cy="3796806"/>
          </a:xfrm>
          <a:prstGeom prst="rect">
            <a:avLst/>
          </a:prstGeom>
          <a:blipFill>
            <a:blip r:embed="rId6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50159" y="2324244"/>
            <a:ext cx="3721080" cy="4196276"/>
          </a:xfrm>
          <a:prstGeom prst="rect">
            <a:avLst/>
          </a:prstGeom>
          <a:blipFill>
            <a:blip r:embed="rId6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Prelaz sa ljudskih na sintetičke podatke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254957" y="4408632"/>
            <a:ext cx="3124200" cy="1712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Rekurzija: za t = 1..n, model θt−1 generiše skup Ht i model θt ga tretira kao ground truth *</a:t>
            </a:r>
            <a:endParaRPr lang="sr-Latn-RS" sz="12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endParaRPr lang="sr-Latn-RS" sz="12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*(verifikovana i tačna informacija koja se koristi kao zlatni standard pri treniranju, validaciji i testiranju modela)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54957" y="3835755"/>
            <a:ext cx="3126112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1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Rekurzivni proces generisanja i treniranja</a:t>
            </a:r>
            <a:endParaRPr lang="en-US" sz="1351" dirty="0"/>
          </a:p>
        </p:txBody>
      </p:sp>
      <p:sp>
        <p:nvSpPr>
          <p:cNvPr id="12" name="Text 10"/>
          <p:cNvSpPr/>
          <p:nvPr/>
        </p:nvSpPr>
        <p:spPr>
          <a:xfrm>
            <a:off x="4533876" y="4408633"/>
            <a:ext cx="3124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Sintetički tekst preplavi internet, a sledeće generacije modela nemaju pristup čistom H (zagađenje interneta)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33876" y="3835755"/>
            <a:ext cx="3126112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1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Zagađenje interneta sintetičkim tekstom</a:t>
            </a:r>
            <a:endParaRPr lang="en-US" sz="1351" dirty="0"/>
          </a:p>
        </p:txBody>
      </p:sp>
      <p:sp>
        <p:nvSpPr>
          <p:cNvPr id="15" name="Text 13"/>
          <p:cNvSpPr/>
          <p:nvPr/>
        </p:nvSpPr>
        <p:spPr>
          <a:xfrm>
            <a:off x="814058" y="4408633"/>
            <a:ext cx="3124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Model θ se trenira na skupu H, koji sadrži samo ljudski tekst iz stvarne raspodele p(x)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4058" y="3835755"/>
            <a:ext cx="3126112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1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Početak treninga modela θ</a:t>
            </a:r>
            <a:endParaRPr lang="en-US" sz="1351" dirty="0"/>
          </a:p>
        </p:txBody>
      </p:sp>
      <p:sp>
        <p:nvSpPr>
          <p:cNvPr id="18" name="Text 16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29193" y="842084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Glavne 3 vrste grešaka (koje dovode do kolapsa)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14347" y="1892348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4347" y="344106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4347" y="500570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48800" y="15463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529193" y="527696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Greška funkcionalne ekspresivnosti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29193" y="5763961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Ograničenja optimizacije (pr. lokalni minimumi) uvode sistemsku pristrasnost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29193" y="4199321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Konačan broj parametara ne može savršeno opisati složene raspodele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9193" y="371232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Greška funkcionalne aproksimacije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9193" y="2650604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Retki događaji (tail events) ređe ulaze u naredne generacije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29193" y="2163607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Greška statističkog uzorkovanja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-10039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45518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42975" y="890092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Long-tailed raspodele i „potkresivanje repa“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0" y="0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42975" y="1892348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42975" y="344106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50598" y="5078897"/>
            <a:ext cx="7315200" cy="1258743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57821" y="524002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57821" y="5625016"/>
            <a:ext cx="6036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Retke informacije, stručna terminologija i manjinski jezici bivaju potisnuti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49446" y="3975143"/>
            <a:ext cx="6036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Rekurzivno učenje smanjuje ukupnu grešku tako što pojačava delove sa najvećom gustinom verovatnoće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7821" y="367538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60361" y="2517866"/>
            <a:ext cx="6036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Ljudski jezik nije jednostavna Gaussova raspodela, ima dug rep (long-tailed distribution)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57821" y="2126663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97" y="2324244"/>
            <a:ext cx="11169592" cy="3796806"/>
          </a:xfrm>
          <a:prstGeom prst="rect">
            <a:avLst/>
          </a:prstGeom>
          <a:blipFill>
            <a:blip r:embed="rId5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98" y="2324244"/>
            <a:ext cx="3721080" cy="3796806"/>
          </a:xfrm>
          <a:prstGeom prst="rect">
            <a:avLst/>
          </a:prstGeom>
          <a:blipFill>
            <a:blip r:embed="rId6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50159" y="2324244"/>
            <a:ext cx="3721080" cy="3796806"/>
          </a:xfrm>
          <a:prstGeom prst="rect">
            <a:avLst/>
          </a:prstGeom>
          <a:blipFill>
            <a:blip r:embed="rId6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Faze degradacije raspodele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254957" y="4408633"/>
            <a:ext cx="3124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Kako bi se odsečeni rep vratio neophodan je priliv novih ljudskih podataka.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54957" y="3835755"/>
            <a:ext cx="3126740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Povratak odsečenog repa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33876" y="4408633"/>
            <a:ext cx="3124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Informacije niske verovatnoće ispadaju iz generisanog skupa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33876" y="3835755"/>
            <a:ext cx="3126740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Faza 2: potkresivanje dugog repa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4058" y="4408633"/>
            <a:ext cx="3124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667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Varijansa opada i izlazi postaju uniformniji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4058" y="3835755"/>
            <a:ext cx="3126740" cy="411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Faza 1: pomeranje gustine ka sredini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47" y="2028133"/>
            <a:ext cx="5321272" cy="4389120"/>
          </a:xfrm>
          <a:custGeom>
            <a:avLst/>
            <a:gdLst/>
            <a:ahLst/>
            <a:cxnLst/>
            <a:rect l="l" t="t" r="r" b="b"/>
            <a:pathLst>
              <a:path w="5321272" h="4389120">
                <a:moveTo>
                  <a:pt x="189969" y="4389120"/>
                </a:moveTo>
                <a:cubicBezTo>
                  <a:pt x="85034" y="4389120"/>
                  <a:pt x="0" y="4304059"/>
                  <a:pt x="0" y="4199159"/>
                </a:cubicBezTo>
                <a:lnTo>
                  <a:pt x="0" y="189961"/>
                </a:lnTo>
                <a:cubicBezTo>
                  <a:pt x="0" y="85061"/>
                  <a:pt x="85034" y="0"/>
                  <a:pt x="189969" y="0"/>
                </a:cubicBezTo>
                <a:lnTo>
                  <a:pt x="5131303" y="0"/>
                </a:lnTo>
                <a:cubicBezTo>
                  <a:pt x="5236238" y="0"/>
                  <a:pt x="5321272" y="85061"/>
                  <a:pt x="5321272" y="189961"/>
                </a:cubicBezTo>
                <a:lnTo>
                  <a:pt x="5321272" y="4199159"/>
                </a:lnTo>
                <a:cubicBezTo>
                  <a:pt x="5321272" y="4304059"/>
                  <a:pt x="5236238" y="4389120"/>
                  <a:pt x="5131303" y="4389120"/>
                </a:cubicBezTo>
                <a:lnTo>
                  <a:pt x="189969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3617" y="2028133"/>
            <a:ext cx="5321272" cy="4389120"/>
          </a:xfrm>
          <a:custGeom>
            <a:avLst/>
            <a:gdLst/>
            <a:ahLst/>
            <a:cxnLst/>
            <a:rect l="l" t="t" r="r" b="b"/>
            <a:pathLst>
              <a:path w="5321272" h="4389120">
                <a:moveTo>
                  <a:pt x="189969" y="4389120"/>
                </a:moveTo>
                <a:cubicBezTo>
                  <a:pt x="85034" y="4389120"/>
                  <a:pt x="0" y="4304059"/>
                  <a:pt x="0" y="4199159"/>
                </a:cubicBezTo>
                <a:lnTo>
                  <a:pt x="0" y="189961"/>
                </a:lnTo>
                <a:cubicBezTo>
                  <a:pt x="0" y="85061"/>
                  <a:pt x="85034" y="0"/>
                  <a:pt x="189969" y="0"/>
                </a:cubicBezTo>
                <a:lnTo>
                  <a:pt x="5131303" y="0"/>
                </a:lnTo>
                <a:cubicBezTo>
                  <a:pt x="5236238" y="0"/>
                  <a:pt x="5321272" y="85061"/>
                  <a:pt x="5321272" y="189961"/>
                </a:cubicBezTo>
                <a:lnTo>
                  <a:pt x="5321272" y="4199159"/>
                </a:lnTo>
                <a:cubicBezTo>
                  <a:pt x="5321272" y="4304059"/>
                  <a:pt x="5236238" y="4389120"/>
                  <a:pt x="5131303" y="4389120"/>
                </a:cubicBezTo>
                <a:lnTo>
                  <a:pt x="189969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Entropija kao merilo gubitka raznolikosti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76451" y="3330238"/>
            <a:ext cx="4193151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1944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Tokom rekurzivnog učenja entropija stabilno </a:t>
            </a:r>
            <a:r>
              <a:rPr lang="en-US" sz="16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opada</a:t>
            </a: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:</a:t>
            </a:r>
          </a:p>
          <a:p>
            <a:pPr marL="0" indent="0" algn="l">
              <a:lnSpc>
                <a:spcPct val="131944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H(X) &gt; H(X1) &gt; ... &gt; H(Xn)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6450" y="2796380"/>
            <a:ext cx="4901328" cy="389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Promena entropije tokom rekurzivnog učenja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4481" y="3330238"/>
            <a:ext cx="394339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1944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 generisanju teksta entropija opisuje nepredvidivost, bogatstvo i raznovrsnost odziva modela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4480" y="2796380"/>
            <a:ext cx="4901328" cy="389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Entropija i generisanje teksta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Rani kolaps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868391" y="2576180"/>
            <a:ext cx="156754" cy="1097280"/>
          </a:xfrm>
          <a:custGeom>
            <a:avLst/>
            <a:gdLst/>
            <a:ahLst/>
            <a:cxnLst/>
            <a:rect l="l" t="t" r="r" b="b"/>
            <a:pathLst>
              <a:path w="156754" h="1097280">
                <a:moveTo>
                  <a:pt x="137160" y="58781"/>
                </a:moveTo>
                <a:cubicBezTo>
                  <a:pt x="137160" y="26203"/>
                  <a:pt x="110952" y="0"/>
                  <a:pt x="78377" y="0"/>
                </a:cubicBezTo>
                <a:cubicBezTo>
                  <a:pt x="45802" y="0"/>
                  <a:pt x="19594" y="26203"/>
                  <a:pt x="19594" y="58781"/>
                </a:cubicBezTo>
                <a:lnTo>
                  <a:pt x="19594" y="764179"/>
                </a:lnTo>
                <a:cubicBezTo>
                  <a:pt x="19594" y="796757"/>
                  <a:pt x="45802" y="822960"/>
                  <a:pt x="78377" y="822960"/>
                </a:cubicBezTo>
                <a:cubicBezTo>
                  <a:pt x="110952" y="822960"/>
                  <a:pt x="137160" y="796757"/>
                  <a:pt x="137160" y="764179"/>
                </a:cubicBezTo>
                <a:lnTo>
                  <a:pt x="137160" y="58781"/>
                </a:lnTo>
                <a:moveTo>
                  <a:pt x="78377" y="1097280"/>
                </a:moveTo>
                <a:cubicBezTo>
                  <a:pt x="121663" y="1097280"/>
                  <a:pt x="156754" y="1062189"/>
                  <a:pt x="156754" y="1018901"/>
                </a:cubicBezTo>
                <a:cubicBezTo>
                  <a:pt x="156754" y="975614"/>
                  <a:pt x="121663" y="940523"/>
                  <a:pt x="78377" y="940523"/>
                </a:cubicBezTo>
                <a:cubicBezTo>
                  <a:pt x="35091" y="940523"/>
                  <a:pt x="0" y="975614"/>
                  <a:pt x="0" y="1018901"/>
                </a:cubicBezTo>
                <a:cubicBezTo>
                  <a:pt x="0" y="1062189"/>
                  <a:pt x="35091" y="1097280"/>
                  <a:pt x="78377" y="1097280"/>
                </a:cubicBezTo>
              </a:path>
            </a:pathLst>
          </a:cu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4023" y="2576180"/>
            <a:ext cx="960120" cy="1097280"/>
          </a:xfrm>
          <a:custGeom>
            <a:avLst/>
            <a:gdLst/>
            <a:ahLst/>
            <a:cxnLst/>
            <a:rect l="l" t="t" r="r" b="b"/>
            <a:pathLst>
              <a:path w="960120" h="1097280">
                <a:moveTo>
                  <a:pt x="0" y="188601"/>
                </a:moveTo>
                <a:cubicBezTo>
                  <a:pt x="0" y="84447"/>
                  <a:pt x="84443" y="11"/>
                  <a:pt x="188596" y="11"/>
                </a:cubicBezTo>
                <a:lnTo>
                  <a:pt x="840105" y="11"/>
                </a:lnTo>
                <a:cubicBezTo>
                  <a:pt x="906325" y="11"/>
                  <a:pt x="960120" y="53800"/>
                  <a:pt x="960120" y="120032"/>
                </a:cubicBezTo>
                <a:lnTo>
                  <a:pt x="960120" y="737252"/>
                </a:lnTo>
                <a:cubicBezTo>
                  <a:pt x="960120" y="785038"/>
                  <a:pt x="932046" y="826406"/>
                  <a:pt x="891539" y="845696"/>
                </a:cubicBezTo>
                <a:lnTo>
                  <a:pt x="891539" y="994432"/>
                </a:lnTo>
                <a:lnTo>
                  <a:pt x="908686" y="994432"/>
                </a:lnTo>
                <a:cubicBezTo>
                  <a:pt x="937192" y="994432"/>
                  <a:pt x="960120" y="1017365"/>
                  <a:pt x="960120" y="1045873"/>
                </a:cubicBezTo>
                <a:cubicBezTo>
                  <a:pt x="960120" y="1074380"/>
                  <a:pt x="937192" y="1097313"/>
                  <a:pt x="908686" y="1097313"/>
                </a:cubicBezTo>
                <a:lnTo>
                  <a:pt x="171449" y="1097313"/>
                </a:lnTo>
                <a:cubicBezTo>
                  <a:pt x="76723" y="1097313"/>
                  <a:pt x="0" y="1020591"/>
                  <a:pt x="0" y="925863"/>
                </a:cubicBezTo>
                <a:cubicBezTo>
                  <a:pt x="0" y="920081"/>
                  <a:pt x="211" y="914287"/>
                  <a:pt x="854" y="908724"/>
                </a:cubicBezTo>
                <a:lnTo>
                  <a:pt x="0" y="908724"/>
                </a:lnTo>
                <a:lnTo>
                  <a:pt x="0" y="188601"/>
                </a:lnTo>
                <a:moveTo>
                  <a:pt x="171449" y="857250"/>
                </a:moveTo>
                <a:cubicBezTo>
                  <a:pt x="133514" y="857250"/>
                  <a:pt x="102867" y="887897"/>
                  <a:pt x="102867" y="925830"/>
                </a:cubicBezTo>
                <a:cubicBezTo>
                  <a:pt x="102867" y="963763"/>
                  <a:pt x="133514" y="994410"/>
                  <a:pt x="171449" y="994410"/>
                </a:cubicBezTo>
                <a:lnTo>
                  <a:pt x="788671" y="994410"/>
                </a:lnTo>
                <a:lnTo>
                  <a:pt x="788671" y="857250"/>
                </a:lnTo>
                <a:lnTo>
                  <a:pt x="171449" y="857250"/>
                </a:lnTo>
                <a:moveTo>
                  <a:pt x="102867" y="768743"/>
                </a:moveTo>
                <a:cubicBezTo>
                  <a:pt x="123865" y="759526"/>
                  <a:pt x="147014" y="754380"/>
                  <a:pt x="171449" y="754380"/>
                </a:cubicBezTo>
                <a:lnTo>
                  <a:pt x="840105" y="754380"/>
                </a:lnTo>
                <a:cubicBezTo>
                  <a:pt x="849533" y="754380"/>
                  <a:pt x="857253" y="746666"/>
                  <a:pt x="857253" y="737241"/>
                </a:cubicBezTo>
                <a:lnTo>
                  <a:pt x="857253" y="120021"/>
                </a:lnTo>
                <a:cubicBezTo>
                  <a:pt x="857253" y="110595"/>
                  <a:pt x="849533" y="102881"/>
                  <a:pt x="840105" y="102881"/>
                </a:cubicBezTo>
                <a:lnTo>
                  <a:pt x="188596" y="102881"/>
                </a:lnTo>
                <a:cubicBezTo>
                  <a:pt x="141234" y="102881"/>
                  <a:pt x="102867" y="141242"/>
                  <a:pt x="102867" y="188612"/>
                </a:cubicBezTo>
                <a:lnTo>
                  <a:pt x="102867" y="768743"/>
                </a:lnTo>
                <a:moveTo>
                  <a:pt x="325759" y="240030"/>
                </a:moveTo>
                <a:lnTo>
                  <a:pt x="702952" y="240030"/>
                </a:lnTo>
                <a:cubicBezTo>
                  <a:pt x="731458" y="240030"/>
                  <a:pt x="754386" y="262963"/>
                  <a:pt x="754386" y="291471"/>
                </a:cubicBezTo>
                <a:cubicBezTo>
                  <a:pt x="754386" y="319978"/>
                  <a:pt x="731458" y="342911"/>
                  <a:pt x="702952" y="342911"/>
                </a:cubicBezTo>
                <a:lnTo>
                  <a:pt x="325759" y="342911"/>
                </a:lnTo>
                <a:cubicBezTo>
                  <a:pt x="297253" y="342911"/>
                  <a:pt x="274325" y="319978"/>
                  <a:pt x="274325" y="291482"/>
                </a:cubicBezTo>
                <a:cubicBezTo>
                  <a:pt x="274325" y="262974"/>
                  <a:pt x="297253" y="240052"/>
                  <a:pt x="325759" y="240052"/>
                </a:cubicBezTo>
                <a:lnTo>
                  <a:pt x="325759" y="240030"/>
                </a:lnTo>
                <a:moveTo>
                  <a:pt x="325759" y="411480"/>
                </a:moveTo>
                <a:lnTo>
                  <a:pt x="702952" y="411480"/>
                </a:lnTo>
                <a:cubicBezTo>
                  <a:pt x="731458" y="411480"/>
                  <a:pt x="754386" y="434413"/>
                  <a:pt x="754386" y="462921"/>
                </a:cubicBezTo>
                <a:cubicBezTo>
                  <a:pt x="754386" y="491428"/>
                  <a:pt x="731458" y="514361"/>
                  <a:pt x="702952" y="514361"/>
                </a:cubicBezTo>
                <a:lnTo>
                  <a:pt x="325759" y="514361"/>
                </a:lnTo>
                <a:cubicBezTo>
                  <a:pt x="297253" y="514361"/>
                  <a:pt x="274325" y="491428"/>
                  <a:pt x="274325" y="462932"/>
                </a:cubicBezTo>
                <a:cubicBezTo>
                  <a:pt x="274325" y="434424"/>
                  <a:pt x="297253" y="411502"/>
                  <a:pt x="325759" y="411502"/>
                </a:cubicBezTo>
                <a:lnTo>
                  <a:pt x="325759" y="411480"/>
                </a:lnTo>
              </a:path>
            </a:pathLst>
          </a:cu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12757" y="2742694"/>
            <a:ext cx="1097280" cy="764251"/>
          </a:xfrm>
          <a:custGeom>
            <a:avLst/>
            <a:gdLst/>
            <a:ahLst/>
            <a:cxnLst/>
            <a:rect l="l" t="t" r="r" b="b"/>
            <a:pathLst>
              <a:path w="1097280" h="764251">
                <a:moveTo>
                  <a:pt x="1080020" y="17264"/>
                </a:moveTo>
                <a:cubicBezTo>
                  <a:pt x="1103041" y="40284"/>
                  <a:pt x="1103041" y="77503"/>
                  <a:pt x="1080020" y="100277"/>
                </a:cubicBezTo>
                <a:lnTo>
                  <a:pt x="433557" y="746987"/>
                </a:lnTo>
                <a:cubicBezTo>
                  <a:pt x="410536" y="770006"/>
                  <a:pt x="373317" y="770006"/>
                  <a:pt x="350548" y="746987"/>
                </a:cubicBezTo>
                <a:lnTo>
                  <a:pt x="17271" y="413957"/>
                </a:lnTo>
                <a:cubicBezTo>
                  <a:pt x="-5750" y="390938"/>
                  <a:pt x="-5750" y="353719"/>
                  <a:pt x="17271" y="330944"/>
                </a:cubicBezTo>
                <a:cubicBezTo>
                  <a:pt x="40292" y="308169"/>
                  <a:pt x="77512" y="307925"/>
                  <a:pt x="100280" y="330944"/>
                </a:cubicBezTo>
                <a:lnTo>
                  <a:pt x="391685" y="622345"/>
                </a:lnTo>
                <a:lnTo>
                  <a:pt x="996769" y="17264"/>
                </a:lnTo>
                <a:cubicBezTo>
                  <a:pt x="1019790" y="-5755"/>
                  <a:pt x="1057010" y="-5755"/>
                  <a:pt x="1079778" y="17264"/>
                </a:cubicBezTo>
                <a:lnTo>
                  <a:pt x="1080020" y="17264"/>
                </a:lnTo>
              </a:path>
            </a:pathLst>
          </a:cu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56125" y="4882783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Ova faza je najopasnija jer klasični automatski testovi često ne primete degradaciju na vreme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56125" y="4262520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Opasnost rane faze kolapsa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41520" y="4882783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Retke reči i specifični izrazi nestaju, a model počinje da ponavlja uvek iste, prosečne fraze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41520" y="4262520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Nestanak retkih reči i ponavljanje prosečnih fraza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6915" y="4882783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Tekst je gramatički ispravan, gube se samo finese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15" y="4262520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Gramatička ispravnost uz gubitak finese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9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04315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190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89009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Kasni kolaps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341359" y="3427958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Generiše se tekst koji je potpuno besmislen, ponavlja se isto više puta itd.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41359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Posledice</a:t>
            </a: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kasnog kolapsa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27825" y="3427959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Model gubi sposobnost smislenog izražavanja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7825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Gubitak sposobnosti modela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1196" y="3427959"/>
            <a:ext cx="31546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Nastaje kada entropija gotovo nestane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196" y="2916902"/>
            <a:ext cx="3157224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Kasni kolaps i entropija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890092"/>
            <a:ext cx="10093960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Nuspojave statističke optimizacije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9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190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9113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Posledice se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manifestuju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kroz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jezik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,</a:t>
            </a: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smanjenje originalnosti i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diverziteta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,</a:t>
            </a: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plasiranje podataka iz uske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tačke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gledišta</a:t>
            </a:r>
            <a:endParaRPr lang="en-U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manjak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poverenja u iste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9113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Manifestacije posljedica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3545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Homogenizaciji i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cenzura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Kao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neželjeni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</a:p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efekti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učenja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3545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Neželjeni efekti učenja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2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Osim matematičkih, ovaj fenomen ima i društvene posledice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2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Društvene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posledice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fenomena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457684" y="4110887"/>
            <a:ext cx="2734316" cy="2733973"/>
          </a:xfrm>
          <a:custGeom>
            <a:avLst/>
            <a:gdLst/>
            <a:ahLst/>
            <a:cxnLst/>
            <a:rect l="l" t="t" r="r" b="b"/>
            <a:pathLst>
              <a:path w="2734316" h="2733973">
                <a:moveTo>
                  <a:pt x="1661726" y="2271850"/>
                </a:moveTo>
                <a:lnTo>
                  <a:pt x="1388075" y="1387929"/>
                </a:lnTo>
                <a:lnTo>
                  <a:pt x="2272107" y="1661517"/>
                </a:lnTo>
                <a:cubicBezTo>
                  <a:pt x="2374753" y="1693286"/>
                  <a:pt x="2455115" y="1773638"/>
                  <a:pt x="2486888" y="1876271"/>
                </a:cubicBezTo>
                <a:lnTo>
                  <a:pt x="2704813" y="2580242"/>
                </a:lnTo>
                <a:cubicBezTo>
                  <a:pt x="2718894" y="2625708"/>
                  <a:pt x="2728957" y="2658324"/>
                  <a:pt x="2732703" y="2682602"/>
                </a:cubicBezTo>
                <a:cubicBezTo>
                  <a:pt x="2736476" y="2706879"/>
                  <a:pt x="2733168" y="2718362"/>
                  <a:pt x="2725922" y="2725607"/>
                </a:cubicBezTo>
                <a:cubicBezTo>
                  <a:pt x="2718676" y="2732852"/>
                  <a:pt x="2707192" y="2736133"/>
                  <a:pt x="2682911" y="2732387"/>
                </a:cubicBezTo>
                <a:cubicBezTo>
                  <a:pt x="2658630" y="2728614"/>
                  <a:pt x="2626010" y="2718581"/>
                  <a:pt x="2580538" y="2704501"/>
                </a:cubicBezTo>
                <a:lnTo>
                  <a:pt x="1876479" y="2486603"/>
                </a:lnTo>
                <a:cubicBezTo>
                  <a:pt x="1773833" y="2454834"/>
                  <a:pt x="1693471" y="2374483"/>
                  <a:pt x="1661698" y="2271850"/>
                </a:cubicBezTo>
                <a:lnTo>
                  <a:pt x="1661726" y="2271850"/>
                </a:lnTo>
              </a:path>
              <a:path w="2734316" h="2733973">
                <a:moveTo>
                  <a:pt x="1072590" y="462123"/>
                </a:moveTo>
                <a:lnTo>
                  <a:pt x="1346213" y="1346044"/>
                </a:lnTo>
                <a:lnTo>
                  <a:pt x="462181" y="1072456"/>
                </a:lnTo>
                <a:cubicBezTo>
                  <a:pt x="359535" y="1040687"/>
                  <a:pt x="279174" y="960335"/>
                  <a:pt x="247401" y="857702"/>
                </a:cubicBezTo>
                <a:lnTo>
                  <a:pt x="29476" y="153731"/>
                </a:lnTo>
                <a:cubicBezTo>
                  <a:pt x="15394" y="108265"/>
                  <a:pt x="5332" y="75649"/>
                  <a:pt x="1586" y="51371"/>
                </a:cubicBezTo>
                <a:cubicBezTo>
                  <a:pt x="-2188" y="27094"/>
                  <a:pt x="1121" y="15611"/>
                  <a:pt x="8367" y="8366"/>
                </a:cubicBezTo>
                <a:cubicBezTo>
                  <a:pt x="15613" y="1121"/>
                  <a:pt x="27097" y="-2160"/>
                  <a:pt x="51378" y="1586"/>
                </a:cubicBezTo>
                <a:cubicBezTo>
                  <a:pt x="75659" y="5331"/>
                  <a:pt x="108252" y="15392"/>
                  <a:pt x="153751" y="29472"/>
                </a:cubicBezTo>
                <a:lnTo>
                  <a:pt x="857810" y="247370"/>
                </a:lnTo>
                <a:cubicBezTo>
                  <a:pt x="960456" y="279139"/>
                  <a:pt x="1040817" y="359490"/>
                  <a:pt x="1072590" y="462123"/>
                </a:cubicBezTo>
              </a:path>
              <a:path w="2734316" h="2733973">
                <a:moveTo>
                  <a:pt x="1388103" y="1346072"/>
                </a:moveTo>
                <a:lnTo>
                  <a:pt x="1661726" y="462151"/>
                </a:lnTo>
                <a:cubicBezTo>
                  <a:pt x="1693499" y="359517"/>
                  <a:pt x="1773860" y="279166"/>
                  <a:pt x="1876506" y="247397"/>
                </a:cubicBezTo>
                <a:lnTo>
                  <a:pt x="2580565" y="29499"/>
                </a:lnTo>
                <a:cubicBezTo>
                  <a:pt x="2626037" y="15420"/>
                  <a:pt x="2658657" y="5358"/>
                  <a:pt x="2682938" y="1613"/>
                </a:cubicBezTo>
                <a:cubicBezTo>
                  <a:pt x="2707219" y="-2160"/>
                  <a:pt x="2718703" y="1148"/>
                  <a:pt x="2725949" y="8393"/>
                </a:cubicBezTo>
                <a:cubicBezTo>
                  <a:pt x="2733195" y="15638"/>
                  <a:pt x="2736476" y="27121"/>
                  <a:pt x="2732730" y="51399"/>
                </a:cubicBezTo>
                <a:cubicBezTo>
                  <a:pt x="2728957" y="75676"/>
                  <a:pt x="2718922" y="108293"/>
                  <a:pt x="2704840" y="153759"/>
                </a:cubicBezTo>
                <a:lnTo>
                  <a:pt x="2486915" y="857729"/>
                </a:lnTo>
                <a:cubicBezTo>
                  <a:pt x="2455142" y="960363"/>
                  <a:pt x="2374781" y="1040714"/>
                  <a:pt x="2272135" y="1072483"/>
                </a:cubicBezTo>
                <a:lnTo>
                  <a:pt x="1388103" y="1346072"/>
                </a:lnTo>
              </a:path>
              <a:path w="2734316" h="2733973">
                <a:moveTo>
                  <a:pt x="462181" y="1661517"/>
                </a:moveTo>
                <a:lnTo>
                  <a:pt x="1346213" y="1387929"/>
                </a:lnTo>
                <a:lnTo>
                  <a:pt x="1072590" y="2271850"/>
                </a:lnTo>
                <a:cubicBezTo>
                  <a:pt x="1040818" y="2374483"/>
                  <a:pt x="960456" y="2454834"/>
                  <a:pt x="857810" y="2486603"/>
                </a:cubicBezTo>
                <a:lnTo>
                  <a:pt x="153751" y="2704501"/>
                </a:lnTo>
                <a:cubicBezTo>
                  <a:pt x="108279" y="2718581"/>
                  <a:pt x="75659" y="2728642"/>
                  <a:pt x="51378" y="2732387"/>
                </a:cubicBezTo>
                <a:cubicBezTo>
                  <a:pt x="27097" y="2736133"/>
                  <a:pt x="15613" y="2732852"/>
                  <a:pt x="8367" y="2725607"/>
                </a:cubicBezTo>
                <a:cubicBezTo>
                  <a:pt x="1121" y="2718362"/>
                  <a:pt x="-2160" y="2706879"/>
                  <a:pt x="1586" y="2682602"/>
                </a:cubicBezTo>
                <a:cubicBezTo>
                  <a:pt x="5359" y="2658324"/>
                  <a:pt x="15394" y="2625708"/>
                  <a:pt x="29476" y="2580242"/>
                </a:cubicBezTo>
                <a:lnTo>
                  <a:pt x="247401" y="1876271"/>
                </a:lnTo>
                <a:cubicBezTo>
                  <a:pt x="279174" y="1773638"/>
                  <a:pt x="359535" y="1693286"/>
                  <a:pt x="462181" y="1661517"/>
                </a:cubicBezTo>
                <a:lnTo>
                  <a:pt x="462181" y="1661517"/>
                </a:lnTo>
              </a:path>
            </a:pathLst>
          </a:custGeom>
          <a:solidFill>
            <a:srgbClr val="6300C6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890092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Marginalizacija retkih jezika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14347" y="1892348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4347" y="344106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4347" y="500570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48800" y="-1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529193" y="527696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Gubitak lokalne sintakse u generisanom tekstu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29193" y="5763961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Generisani tekstovi na manjim jezicima gube lokalnu sintaksu - prevodi su mehanički i bezlični.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29193" y="4199321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Manje zastupljeni izrazi i oblici se od strane optimizacionih modela registruju kao „šum“.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9193" y="371232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Optimizacioni modeli i „šum“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9193" y="2650604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Manji jezici (uključujući srpski) ulaze u „rep“ raspodele zbog dominacije engleskog.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29193" y="2163607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Dominacija engleskog jezika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13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4347" y="2028133"/>
            <a:ext cx="5321272" cy="4389120"/>
          </a:xfrm>
          <a:custGeom>
            <a:avLst/>
            <a:gdLst/>
            <a:ahLst/>
            <a:cxnLst/>
            <a:rect l="l" t="t" r="r" b="b"/>
            <a:pathLst>
              <a:path w="5321272" h="4389120">
                <a:moveTo>
                  <a:pt x="189969" y="4389120"/>
                </a:moveTo>
                <a:cubicBezTo>
                  <a:pt x="85034" y="4389120"/>
                  <a:pt x="0" y="4304059"/>
                  <a:pt x="0" y="4199159"/>
                </a:cubicBezTo>
                <a:lnTo>
                  <a:pt x="0" y="189961"/>
                </a:lnTo>
                <a:cubicBezTo>
                  <a:pt x="0" y="85061"/>
                  <a:pt x="85034" y="0"/>
                  <a:pt x="189969" y="0"/>
                </a:cubicBezTo>
                <a:lnTo>
                  <a:pt x="5131303" y="0"/>
                </a:lnTo>
                <a:cubicBezTo>
                  <a:pt x="5236238" y="0"/>
                  <a:pt x="5321272" y="85061"/>
                  <a:pt x="5321272" y="189961"/>
                </a:cubicBezTo>
                <a:lnTo>
                  <a:pt x="5321272" y="4199159"/>
                </a:lnTo>
                <a:cubicBezTo>
                  <a:pt x="5321272" y="4304059"/>
                  <a:pt x="5236238" y="4389120"/>
                  <a:pt x="5131303" y="4389120"/>
                </a:cubicBezTo>
                <a:lnTo>
                  <a:pt x="189969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3617" y="2028133"/>
            <a:ext cx="5321272" cy="4389120"/>
          </a:xfrm>
          <a:custGeom>
            <a:avLst/>
            <a:gdLst/>
            <a:ahLst/>
            <a:cxnLst/>
            <a:rect l="l" t="t" r="r" b="b"/>
            <a:pathLst>
              <a:path w="5321272" h="4389120">
                <a:moveTo>
                  <a:pt x="189969" y="4389120"/>
                </a:moveTo>
                <a:cubicBezTo>
                  <a:pt x="85034" y="4389120"/>
                  <a:pt x="0" y="4304059"/>
                  <a:pt x="0" y="4199159"/>
                </a:cubicBezTo>
                <a:lnTo>
                  <a:pt x="0" y="189961"/>
                </a:lnTo>
                <a:cubicBezTo>
                  <a:pt x="0" y="85061"/>
                  <a:pt x="85034" y="0"/>
                  <a:pt x="189969" y="0"/>
                </a:cubicBezTo>
                <a:lnTo>
                  <a:pt x="5131303" y="0"/>
                </a:lnTo>
                <a:cubicBezTo>
                  <a:pt x="5236238" y="0"/>
                  <a:pt x="5321272" y="85061"/>
                  <a:pt x="5321272" y="189961"/>
                </a:cubicBezTo>
                <a:lnTo>
                  <a:pt x="5321272" y="4199159"/>
                </a:lnTo>
                <a:cubicBezTo>
                  <a:pt x="5321272" y="4304059"/>
                  <a:pt x="5236238" y="4389120"/>
                  <a:pt x="5131303" y="4389120"/>
                </a:cubicBezTo>
                <a:lnTo>
                  <a:pt x="189969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890092"/>
            <a:ext cx="10108833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Globalna lingvistička homogenizacija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18253" y="3742887"/>
            <a:ext cx="4592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Smanjuje se šansa da retki jezici i dijalekti opstanu u digitalnom prostoru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18253" y="3131227"/>
            <a:ext cx="45948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buNone/>
            </a:pPr>
            <a:r>
              <a:rPr lang="sr-Latn-RS" sz="1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Pretnja</a:t>
            </a:r>
            <a:r>
              <a:rPr lang="en-US" sz="1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opstanku jezika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8983" y="3742887"/>
            <a:ext cx="4592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Centralizovani AI modeli postepeno brišu raznolikost jezika i kultura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8983" y="3131227"/>
            <a:ext cx="45948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Ut</a:t>
            </a:r>
            <a:r>
              <a:rPr lang="sr-Latn-RS" sz="1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icaj</a:t>
            </a:r>
            <a:r>
              <a:rPr lang="en-US" sz="1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centraliziranih AI modela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45518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42975" y="890092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LLM - stohastički papagaj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0" y="33008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42975" y="1892348"/>
            <a:ext cx="7315200" cy="193851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66468" y="4013738"/>
            <a:ext cx="7315200" cy="193851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45132" y="4379498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Etički rizici i pouzdanost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45132" y="4745258"/>
            <a:ext cx="603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Odsustvo pravog razumevanja povećava etičke rizike, posebno kada su podaci pristrasni.</a:t>
            </a:r>
            <a:endParaRPr lang="en-US" sz="1400" dirty="0"/>
          </a:p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Nije moguće osloniti se na model da donese "tačnu" odluku, ako mu to statistički nije u interesu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51220" y="2944064"/>
            <a:ext cx="603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Procenjuju verovatnoću sledeće reči na osnovu prethodnih tokena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57821" y="367538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57821" y="2613660"/>
            <a:ext cx="603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LLM-ovi kao statistički sistemi bez razumevanja značenja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57821" y="2126663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15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947736" y="1948031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Učvršćivanje predrasuda putem kolapsa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259872" y="3975594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Nejednakost u početnim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podacima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-&gt;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dugoročna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(nepopravljiva) nejednakost u generisanom sadržaju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56125" y="3379188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Nejednakost u podacima i njen uticaj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0250" y="3992981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Smanjenje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varijanse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-&gt;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učvršćavanje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pristrasnih obrazaca kao apsolutne istine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32630" y="3379188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Smanjenje varijanse i učvršćavanje pristrasnosti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645" y="3915291"/>
            <a:ext cx="31254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Početni podaci sadrže istorijske predrasude ili </a:t>
            </a: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stereotipe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-&gt; </a:t>
            </a:r>
            <a:endParaRPr lang="sr-Latn-RS" sz="13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rekurzivno</a:t>
            </a: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treniranje ih ne ispravlja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2160" y="3458091"/>
            <a:ext cx="3126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Početni podaci i predrasude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16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890092"/>
            <a:ext cx="7350761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Strategije ublažavanja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14347" y="2159048"/>
            <a:ext cx="8254268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87051" y="2011680"/>
                </a:moveTo>
                <a:cubicBezTo>
                  <a:pt x="38990" y="2011680"/>
                  <a:pt x="0" y="1972694"/>
                  <a:pt x="0" y="1924614"/>
                </a:cubicBezTo>
                <a:lnTo>
                  <a:pt x="0" y="87065"/>
                </a:lnTo>
                <a:cubicBezTo>
                  <a:pt x="0" y="38986"/>
                  <a:pt x="38990" y="0"/>
                  <a:pt x="87051" y="0"/>
                </a:cubicBezTo>
                <a:lnTo>
                  <a:pt x="7228149" y="0"/>
                </a:lnTo>
                <a:cubicBezTo>
                  <a:pt x="7276210" y="0"/>
                  <a:pt x="7315200" y="38986"/>
                  <a:pt x="7315200" y="87065"/>
                </a:cubicBezTo>
                <a:lnTo>
                  <a:pt x="7315200" y="1924614"/>
                </a:lnTo>
                <a:cubicBezTo>
                  <a:pt x="7315200" y="1972694"/>
                  <a:pt x="7276210" y="2011680"/>
                  <a:pt x="7228149" y="2011680"/>
                </a:cubicBezTo>
                <a:lnTo>
                  <a:pt x="87051" y="201168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4347" y="4405043"/>
            <a:ext cx="7315200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87051" y="2011680"/>
                </a:moveTo>
                <a:cubicBezTo>
                  <a:pt x="38990" y="2011680"/>
                  <a:pt x="0" y="1972694"/>
                  <a:pt x="0" y="1924614"/>
                </a:cubicBezTo>
                <a:lnTo>
                  <a:pt x="0" y="87065"/>
                </a:lnTo>
                <a:cubicBezTo>
                  <a:pt x="0" y="38986"/>
                  <a:pt x="38990" y="0"/>
                  <a:pt x="87051" y="0"/>
                </a:cubicBezTo>
                <a:lnTo>
                  <a:pt x="7228149" y="0"/>
                </a:lnTo>
                <a:cubicBezTo>
                  <a:pt x="7276210" y="0"/>
                  <a:pt x="7315200" y="38986"/>
                  <a:pt x="7315200" y="87065"/>
                </a:cubicBezTo>
                <a:lnTo>
                  <a:pt x="7315200" y="1924614"/>
                </a:lnTo>
                <a:cubicBezTo>
                  <a:pt x="7315200" y="1972694"/>
                  <a:pt x="7276210" y="2011680"/>
                  <a:pt x="7228149" y="2011680"/>
                </a:cubicBezTo>
                <a:lnTo>
                  <a:pt x="87051" y="201168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448800" y="3398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9193" y="4725955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Ključna strategija za rešenje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29193" y="5212952"/>
            <a:ext cx="6036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Rešenje: kontrola porekla i kvalitet podataka pre ulaska u trening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29193" y="247996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Problematika rasta modela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9193" y="2966957"/>
            <a:ext cx="6036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Problem se ne može rešiti pukim povećanjem veličine modela ili dodavanjem novih parametara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27400" y="512177"/>
            <a:ext cx="54742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327400" y="1273265"/>
            <a:ext cx="837304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Data Provenance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139" y="6797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27400" y="2159048"/>
            <a:ext cx="7315200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87051" y="2011680"/>
                </a:moveTo>
                <a:cubicBezTo>
                  <a:pt x="38990" y="2011680"/>
                  <a:pt x="0" y="1972694"/>
                  <a:pt x="0" y="1924614"/>
                </a:cubicBezTo>
                <a:lnTo>
                  <a:pt x="0" y="87065"/>
                </a:lnTo>
                <a:cubicBezTo>
                  <a:pt x="0" y="38986"/>
                  <a:pt x="38990" y="0"/>
                  <a:pt x="87051" y="0"/>
                </a:cubicBezTo>
                <a:lnTo>
                  <a:pt x="7228149" y="0"/>
                </a:lnTo>
                <a:cubicBezTo>
                  <a:pt x="7276210" y="0"/>
                  <a:pt x="7315200" y="38986"/>
                  <a:pt x="7315200" y="87065"/>
                </a:cubicBezTo>
                <a:lnTo>
                  <a:pt x="7315200" y="1924614"/>
                </a:lnTo>
                <a:cubicBezTo>
                  <a:pt x="7315200" y="1972694"/>
                  <a:pt x="7276210" y="2011680"/>
                  <a:pt x="7228149" y="2011680"/>
                </a:cubicBezTo>
                <a:lnTo>
                  <a:pt x="87051" y="201168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27400" y="4405043"/>
            <a:ext cx="7315200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87051" y="2011680"/>
                </a:moveTo>
                <a:cubicBezTo>
                  <a:pt x="38990" y="2011680"/>
                  <a:pt x="0" y="1972694"/>
                  <a:pt x="0" y="1924614"/>
                </a:cubicBezTo>
                <a:lnTo>
                  <a:pt x="0" y="87065"/>
                </a:lnTo>
                <a:cubicBezTo>
                  <a:pt x="0" y="38986"/>
                  <a:pt x="38990" y="0"/>
                  <a:pt x="87051" y="0"/>
                </a:cubicBezTo>
                <a:lnTo>
                  <a:pt x="7228149" y="0"/>
                </a:lnTo>
                <a:cubicBezTo>
                  <a:pt x="7276210" y="0"/>
                  <a:pt x="7315200" y="38986"/>
                  <a:pt x="7315200" y="87065"/>
                </a:cubicBezTo>
                <a:lnTo>
                  <a:pt x="7315200" y="1924614"/>
                </a:lnTo>
                <a:cubicBezTo>
                  <a:pt x="7315200" y="1972694"/>
                  <a:pt x="7276210" y="2011680"/>
                  <a:pt x="7228149" y="2011680"/>
                </a:cubicBezTo>
                <a:lnTo>
                  <a:pt x="87051" y="201168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42246" y="470401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Cilj praćenja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porekla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podataka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: 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42246" y="5191007"/>
            <a:ext cx="60363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Blagovremeno prepoznavanje AI generisanog teksta.</a:t>
            </a:r>
            <a:endParaRPr lang="en-US" sz="1600" dirty="0"/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Odvajanje istog od ljudskog pre treninga, kako bi se izbegla rekurzivna petlja koja vodi ka kolapsu.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42246" y="2458015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=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Praćenje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porekla podata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42246" y="2945012"/>
            <a:ext cx="60363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Trag o tome kako su prikupljeni, 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čišćeni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i menjani.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</a:t>
            </a:r>
            <a:endParaRPr lang="en-US" sz="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9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04315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1908" y="2057400"/>
            <a:ext cx="3555980" cy="4389120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14112" y="1207234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Pametnije tehnike uzorkovanja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341359" y="3427958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Pomaže da se očuva raznolikost koja je ključna za stabilnu entropiju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341359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Očuvanje raznolikosti za stabilnu entropiju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27825" y="3427959"/>
            <a:ext cx="3124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Smanjuje se rizik nestajanja long-tailed kroz generacije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7825" y="2916902"/>
            <a:ext cx="3126740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Smanjenje rizika nestajanja long-tailed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1196" y="3427959"/>
            <a:ext cx="315468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Primena tehnika uzorkovanja koje namerno čuvaju manje zastupljene jezike i stručne domene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1196" y="2916902"/>
            <a:ext cx="3157224" cy="40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Čuvanje manje zastupljenih jezika i domena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</a:t>
            </a:r>
            <a:endParaRPr lang="en-US" sz="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98" y="1334598"/>
            <a:ext cx="10093960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Ljudski tekst kao neobnovljiv resurs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98" y="2444816"/>
            <a:ext cx="3555980" cy="4001703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04315" y="2444816"/>
            <a:ext cx="3555980" cy="4001703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1908" y="2444816"/>
            <a:ext cx="3555980" cy="4001703"/>
          </a:xfrm>
          <a:custGeom>
            <a:avLst/>
            <a:gdLst/>
            <a:ahLst/>
            <a:cxnLst/>
            <a:rect l="l" t="t" r="r" b="b"/>
            <a:pathLst>
              <a:path w="3555980" h="4389120">
                <a:moveTo>
                  <a:pt x="187578" y="4389120"/>
                </a:moveTo>
                <a:cubicBezTo>
                  <a:pt x="83992" y="4389120"/>
                  <a:pt x="0" y="4305156"/>
                  <a:pt x="0" y="4201529"/>
                </a:cubicBezTo>
                <a:lnTo>
                  <a:pt x="0" y="187547"/>
                </a:lnTo>
                <a:cubicBezTo>
                  <a:pt x="0" y="83964"/>
                  <a:pt x="83992" y="-44"/>
                  <a:pt x="187578" y="-44"/>
                </a:cubicBezTo>
                <a:lnTo>
                  <a:pt x="3368402" y="-44"/>
                </a:lnTo>
                <a:cubicBezTo>
                  <a:pt x="3471988" y="-44"/>
                  <a:pt x="3555980" y="83920"/>
                  <a:pt x="3555980" y="187547"/>
                </a:cubicBezTo>
                <a:lnTo>
                  <a:pt x="3555980" y="4201529"/>
                </a:lnTo>
                <a:cubicBezTo>
                  <a:pt x="3555980" y="4305112"/>
                  <a:pt x="3471988" y="4389120"/>
                  <a:pt x="3368402" y="4389120"/>
                </a:cubicBezTo>
                <a:lnTo>
                  <a:pt x="187578" y="438912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9113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Očuvanje raznolikosti = zaštita održivosti i granica same tehnologije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9113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Očuvanje raznolikosti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3545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Ključno - aktivna zaštita od nekontrolisanog zagađenja generičkim AI sadržajem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3545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Zaštita od AI sadržaja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28" y="3787835"/>
            <a:ext cx="303403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Autentični ljudski tekst na internetu treba posmatrati kao dragocen i neobnovljiv resurs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28" y="3172061"/>
            <a:ext cx="303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Autentični ljudski tekst kao resurs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</a:t>
            </a:r>
            <a:endParaRPr lang="en-US" sz="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890092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Pitanja ključna za dalji razvoj AI-a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14347" y="1892348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4347" y="3455469"/>
            <a:ext cx="7315200" cy="1448636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4347" y="500570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48800" y="-13454"/>
            <a:ext cx="2743200" cy="685120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529193" y="527696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Balans između profitnih motiva i društvenog razvoja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29193" y="5763961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Kako uspostaviti balans između profitnih motiva i potrebe da se tehnologija razvija za društvo, a ne protiv njega?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31733" y="4145782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Kako uspostaviti standarde za Data Provenance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prikupljanju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podataka?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9193" y="3712324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Uspostavljanje standarda za Data Provenance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9193" y="2650604"/>
            <a:ext cx="6036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Kako meriti i sprečiti degradaciju kvaliteta pre nego što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postane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neprimetna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u ranim fazama?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29193" y="2163607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Mer</a:t>
            </a:r>
            <a:r>
              <a:rPr lang="sr-Latn-R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e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nje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i sprečavanje degradacije kvaliteta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21</a:t>
            </a:r>
            <a:endParaRPr lang="en-US" sz="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5463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7235" y="1642852"/>
            <a:ext cx="11197529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Put ka rešenju problema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555311" y="2858948"/>
            <a:ext cx="3108960" cy="329184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738191" y="3499028"/>
            <a:ext cx="2758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Pametno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uzorkovanje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tretiranje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ljudskog teksta kao resurs koji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zahteva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aktivnu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zaštitu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r>
              <a:rPr lang="sr-Latn-RS" sz="1400" dirty="0">
                <a:solidFill>
                  <a:srgbClr val="FFFFFF"/>
                </a:solidFill>
                <a:latin typeface="Outfit" pitchFamily="34" charset="0"/>
              </a:rPr>
              <a:t>!!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354143" y="2610412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8409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54143" y="2610412"/>
            <a:ext cx="312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Pametno uzorkovanje i zaštita ljudskog teksta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30318" y="2858948"/>
            <a:ext cx="3108960" cy="329184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13198" y="3499028"/>
            <a:ext cx="2758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Čuvanje istorije i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porekla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</a:t>
            </a:r>
            <a:endParaRPr lang="sr-Latn-RS" sz="1400" dirty="0">
              <a:solidFill>
                <a:srgbClr val="FFFFFF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podataka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28532" y="2610412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8409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428532" y="2610412"/>
            <a:ext cx="312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Data Provenance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3470" y="2858948"/>
            <a:ext cx="3108960" cy="329184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6350" y="3499028"/>
            <a:ext cx="2758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sr-Latn-R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Umesto oslanjanja na povećanje modela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promeniti</a:t>
            </a: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način prikupljanja i vrednovanja podataka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2610412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8409FF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2610412"/>
            <a:ext cx="312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Ne oslanjati se na povećanje modela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69602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22</a:t>
            </a:r>
            <a:endParaRPr lang="en-US" sz="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00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4">
              <a:alphaModFix amt="20000"/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45518" y="512177"/>
            <a:ext cx="732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42975" y="890092"/>
            <a:ext cx="7362187" cy="8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Glavna literatura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5463" y="32929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42975" y="1892348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42975" y="344106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42975" y="5005705"/>
            <a:ext cx="7315200" cy="1463040"/>
          </a:xfrm>
          <a:custGeom>
            <a:avLst/>
            <a:gdLst/>
            <a:ahLst/>
            <a:cxnLst/>
            <a:rect l="l" t="t" r="r" b="b"/>
            <a:pathLst>
              <a:path w="7315200" h="1463040">
                <a:moveTo>
                  <a:pt x="63350" y="1463040"/>
                </a:moveTo>
                <a:cubicBezTo>
                  <a:pt x="28383" y="1463040"/>
                  <a:pt x="0" y="1434686"/>
                  <a:pt x="0" y="1399720"/>
                </a:cubicBezTo>
                <a:lnTo>
                  <a:pt x="0" y="63320"/>
                </a:lnTo>
                <a:cubicBezTo>
                  <a:pt x="0" y="28354"/>
                  <a:pt x="28383" y="0"/>
                  <a:pt x="63350" y="0"/>
                </a:cubicBezTo>
                <a:lnTo>
                  <a:pt x="7251924" y="0"/>
                </a:lnTo>
                <a:cubicBezTo>
                  <a:pt x="7286890" y="0"/>
                  <a:pt x="7315273" y="28354"/>
                  <a:pt x="7315273" y="63320"/>
                </a:cubicBezTo>
                <a:lnTo>
                  <a:pt x="7315273" y="1399720"/>
                </a:lnTo>
                <a:cubicBezTo>
                  <a:pt x="7315273" y="1434686"/>
                  <a:pt x="7286890" y="1463040"/>
                  <a:pt x="7251924" y="1463040"/>
                </a:cubicBezTo>
                <a:lnTo>
                  <a:pt x="63350" y="1463040"/>
                </a:lnTo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57821" y="524002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Bender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saradnici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(2021)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57821" y="5727017"/>
            <a:ext cx="60339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 the Dangers of Stochastic Parrots: Can Language Models Be Too Big?</a:t>
            </a:r>
            <a:endParaRPr lang="en-US" sz="1217" dirty="0"/>
          </a:p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https://doi.org/10.1145/3442188.3445922</a:t>
            </a:r>
            <a:endParaRPr lang="en-US" sz="1217" dirty="0"/>
          </a:p>
        </p:txBody>
      </p:sp>
      <p:sp>
        <p:nvSpPr>
          <p:cNvPr id="18" name="Text 16"/>
          <p:cNvSpPr/>
          <p:nvPr/>
        </p:nvSpPr>
        <p:spPr>
          <a:xfrm>
            <a:off x="4457821" y="4162377"/>
            <a:ext cx="60339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bad is training on synthetic data? A statistical analysis of language model collapse.</a:t>
            </a:r>
            <a:endParaRPr lang="en-US" sz="1217" dirty="0"/>
          </a:p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https://doi.org/10.48550/arXiv.2404.01502</a:t>
            </a:r>
            <a:endParaRPr lang="en-US" sz="1217" dirty="0"/>
          </a:p>
        </p:txBody>
      </p:sp>
      <p:sp>
        <p:nvSpPr>
          <p:cNvPr id="19" name="Text 17"/>
          <p:cNvSpPr/>
          <p:nvPr/>
        </p:nvSpPr>
        <p:spPr>
          <a:xfrm>
            <a:off x="4457821" y="3675380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Dohmatob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saradnici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(2024)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57821" y="2613660"/>
            <a:ext cx="60339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curse of recursion: Training on generated data makes models forget.</a:t>
            </a:r>
            <a:endParaRPr lang="en-US" sz="1217" dirty="0"/>
          </a:p>
          <a:p>
            <a:pPr marL="0" indent="0" algn="l">
              <a:lnSpc>
                <a:spcPct val="90000"/>
              </a:lnSpc>
              <a:spcBef>
                <a:spcPts val="870"/>
              </a:spcBef>
              <a:buNone/>
            </a:pPr>
            <a:r>
              <a:rPr lang="en-US" sz="1217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https://doi.org/10.48550/arXiv.2305.17493</a:t>
            </a:r>
            <a:endParaRPr lang="en-US" sz="1217" dirty="0"/>
          </a:p>
        </p:txBody>
      </p:sp>
      <p:sp>
        <p:nvSpPr>
          <p:cNvPr id="22" name="Text 20"/>
          <p:cNvSpPr/>
          <p:nvPr/>
        </p:nvSpPr>
        <p:spPr>
          <a:xfrm>
            <a:off x="4457821" y="2126663"/>
            <a:ext cx="603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Shumailov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saradnici</a:t>
            </a:r>
            <a:r>
              <a:rPr lang="en-US" sz="1600" dirty="0">
                <a:solidFill>
                  <a:srgbClr val="FFFFFF"/>
                </a:solidFill>
                <a:latin typeface="Outfit SemiBold" pitchFamily="34" charset="0"/>
                <a:ea typeface="Outfit SemiBold" pitchFamily="34" charset="-122"/>
                <a:cs typeface="Outfit SemiBold" pitchFamily="34" charset="-120"/>
              </a:rPr>
              <a:t> (2023)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20520"/>
            <a:ext cx="3665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600" dirty="0">
                <a:solidFill>
                  <a:srgbClr val="FFFFFF">
                    <a:alpha val="5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23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1243</Words>
  <Application>Microsoft Office PowerPoint</Application>
  <PresentationFormat>Widescreen</PresentationFormat>
  <Paragraphs>219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Outfit SemiBold</vt:lpstr>
      <vt:lpstr>Arial</vt:lpstr>
      <vt:lpstr>Outfit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SlideSpeak</dc:creator>
  <cp:lastModifiedBy>Registered User</cp:lastModifiedBy>
  <cp:revision>7</cp:revision>
  <dcterms:created xsi:type="dcterms:W3CDTF">2026-07-24T11:56:42Z</dcterms:created>
  <dcterms:modified xsi:type="dcterms:W3CDTF">2026-07-25T14:47:09Z</dcterms:modified>
</cp:coreProperties>
</file>