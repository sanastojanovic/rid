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73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UTICAJ VEŠTAČKE INTELIGENCIJE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privatnost zdravstvenih podataka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1148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Kabić  ·  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168/2021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dr Sana Stojanović Đurđević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929"/>
          </a:solidFill>
          <a:ln w="12700">
            <a:solidFill>
              <a:srgbClr val="091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Matematički fakultet  ·  Univerzitet u Beogradu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ČEMU ĆEMO PRIČATI?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10058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70432" y="1143000"/>
            <a:ext cx="36576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069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u zdravstvu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353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Dijagnostika, prediktivna analitika, genomika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76479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70432" y="1901952"/>
            <a:ext cx="36576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Privatnost </a:t>
            </a:r>
            <a:r>
              <a:rPr lang="en-US" sz="1400" b="1" smtClean="0">
                <a:solidFill>
                  <a:srgbClr val="FFFFFF"/>
                </a:solidFill>
              </a:rPr>
              <a:t>i </a:t>
            </a:r>
            <a:r>
              <a:rPr lang="en-US" sz="1400" b="1" dirty="0">
                <a:solidFill>
                  <a:srgbClr val="FFFFFF"/>
                </a:solidFill>
              </a:rPr>
              <a:t>rizici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11226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Zašto su zdravstveni podaci </a:t>
            </a:r>
            <a:r>
              <a:rPr lang="en-US" sz="1100">
                <a:solidFill>
                  <a:srgbClr val="94A3B8"/>
                </a:solidFill>
              </a:rPr>
              <a:t>posebno </a:t>
            </a:r>
            <a:r>
              <a:rPr lang="en-US" sz="1100" smtClean="0">
                <a:solidFill>
                  <a:srgbClr val="94A3B8"/>
                </a:solidFill>
              </a:rPr>
              <a:t>osetljivi?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5237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70432" y="2660904"/>
            <a:ext cx="36576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587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Etički izazovi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87121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Pristanak, transparentnost, pristrasnost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328269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70432" y="3419856"/>
            <a:ext cx="36576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Pravni okvir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630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GDPR i potreba za boljom regulativom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0416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</a:rPr>
              <a:t>05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70432" y="4178808"/>
            <a:ext cx="36576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105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Rešenja </a:t>
            </a:r>
            <a:r>
              <a:rPr lang="en-US" sz="1400" b="1" smtClean="0">
                <a:solidFill>
                  <a:srgbClr val="FFFFFF"/>
                </a:solidFill>
              </a:rPr>
              <a:t>i </a:t>
            </a:r>
            <a:r>
              <a:rPr lang="en-US" sz="1400" b="1" dirty="0">
                <a:solidFill>
                  <a:srgbClr val="FFFFFF"/>
                </a:solidFill>
              </a:rPr>
              <a:t>zaključak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38912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Federativno učenje, diferencijalna privatnost...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12140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U ZDRAVSTVU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nivoa primene AI u medicini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691640"/>
            <a:ext cx="594360" cy="594360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764792"/>
            <a:ext cx="448056" cy="448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Kliničari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8529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Brza i precizna interpretacija medicinskih snimaka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5087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691640"/>
            <a:ext cx="594360" cy="59436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764792"/>
            <a:ext cx="448056" cy="4480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Zdravstveni sistemi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29000" y="28529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Unapređenje radnih tokova i smanjenje grešaka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50876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32320" y="1691640"/>
            <a:ext cx="594360" cy="594360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764792"/>
            <a:ext cx="448056" cy="4480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Pacijenti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63640" y="28529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Praćenje i upravljanje sopstvenim zdravstvenim podacima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12140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U ZDRAVSTVU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</a:rPr>
              <a:t>Šta AI konkretno radi u medicini?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594360" cy="594360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Dijagnostika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Detekcija malignih promena na radiološkim snimcima; dijabetička retinopatija iz fotografija </a:t>
            </a:r>
            <a:r>
              <a:rPr lang="en-US" sz="1200">
                <a:solidFill>
                  <a:srgbClr val="64748B"/>
                </a:solidFill>
              </a:rPr>
              <a:t>očnog </a:t>
            </a:r>
            <a:r>
              <a:rPr lang="en-US" sz="1200" smtClean="0">
                <a:solidFill>
                  <a:srgbClr val="64748B"/>
                </a:solidFill>
              </a:rPr>
              <a:t>dna… U </a:t>
            </a:r>
            <a:r>
              <a:rPr lang="en-US" sz="1200" dirty="0">
                <a:solidFill>
                  <a:srgbClr val="64748B"/>
                </a:solidFill>
              </a:rPr>
              <a:t>nekim zadacima prevazilazi preciznost specijalista.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51760"/>
            <a:ext cx="594360" cy="59436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Prediktivna analitika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8346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Identifikacija pacijenata sa visokim rizikom od rehospitalizacije; predviđanje komplikacija na osnovu istorije bolesti </a:t>
            </a:r>
            <a:r>
              <a:rPr lang="en-US" sz="1200">
                <a:solidFill>
                  <a:srgbClr val="64748B"/>
                </a:solidFill>
              </a:rPr>
              <a:t>i </a:t>
            </a:r>
            <a:r>
              <a:rPr lang="en-US" sz="1200" smtClean="0">
                <a:solidFill>
                  <a:srgbClr val="64748B"/>
                </a:solidFill>
              </a:rPr>
              <a:t>laboratorijskih  </a:t>
            </a:r>
            <a:r>
              <a:rPr lang="en-US" sz="1200" dirty="0">
                <a:solidFill>
                  <a:srgbClr val="64748B"/>
                </a:solidFill>
              </a:rPr>
              <a:t>nalaza.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86200"/>
            <a:ext cx="594360" cy="59436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Genomska medicina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Analiza genomskih podataka za predviđanje reakcije na terapiju</a:t>
            </a:r>
            <a:r>
              <a:rPr lang="en-US" sz="1200">
                <a:solidFill>
                  <a:srgbClr val="64748B"/>
                </a:solidFill>
              </a:rPr>
              <a:t>. 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90472"/>
            <a:ext cx="448056" cy="448056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24912"/>
            <a:ext cx="448056" cy="4480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71576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PRIVATNOST &amp; RIZICI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6312" y="4116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zdravstveni podaci zaslužuju poseban tretman?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72768"/>
            <a:ext cx="594360" cy="594360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45920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17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</a:rPr>
              <a:t>Trajni </a:t>
            </a:r>
            <a:r>
              <a:rPr lang="en-US" sz="1300" smtClean="0">
                <a:solidFill>
                  <a:srgbClr val="FFFFFF"/>
                </a:solidFill>
              </a:rPr>
              <a:t>su tj. </a:t>
            </a:r>
            <a:r>
              <a:rPr lang="en-US" sz="1300" dirty="0">
                <a:solidFill>
                  <a:srgbClr val="FFFFFF"/>
                </a:solidFill>
              </a:rPr>
              <a:t>ne mogu se promeniti kao lozinka ili broj kartice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572768"/>
            <a:ext cx="594360" cy="59436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645920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417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Kolektivni </a:t>
            </a:r>
            <a:r>
              <a:rPr lang="en-US" sz="1300">
                <a:solidFill>
                  <a:srgbClr val="FFFFFF"/>
                </a:solidFill>
              </a:rPr>
              <a:t>su </a:t>
            </a:r>
            <a:r>
              <a:rPr lang="en-US" sz="1300" smtClean="0">
                <a:solidFill>
                  <a:srgbClr val="FFFFFF"/>
                </a:solidFill>
              </a:rPr>
              <a:t>tj. </a:t>
            </a:r>
            <a:r>
              <a:rPr lang="en-US" sz="1300" dirty="0">
                <a:solidFill>
                  <a:srgbClr val="FFFFFF"/>
                </a:solidFill>
              </a:rPr>
              <a:t>otkrivanje genomskih podataka utiče i na biološke srodnike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218688"/>
            <a:ext cx="594360" cy="59436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291840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Mogu uticati na zapošljavanje, osiguranje i socijalni status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800600" y="28346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83480" y="3218688"/>
            <a:ext cx="594360" cy="5943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291840"/>
            <a:ext cx="448056" cy="4480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6072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Otkrivaju psihijatrijsku istoriju, zavisnosti, reproduktivno zdravlje...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71576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PRIVATNOST &amp; RIZICI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34155"/>
                </a:solidFill>
              </a:rPr>
              <a:t>Curenje </a:t>
            </a:r>
            <a:r>
              <a:rPr lang="en-US" sz="2200" b="1" smtClean="0">
                <a:solidFill>
                  <a:srgbClr val="334155"/>
                </a:solidFill>
              </a:rPr>
              <a:t>podataka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0604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</a:rPr>
              <a:t>~2/dan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Velika curenja zdravstvenih podataka u SAD u 2023.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60604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7706"/>
                </a:solidFill>
              </a:rPr>
              <a:t>168M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Kompromitovanih zdravstvenih kartona tokom 2023. godine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26060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173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</a:rPr>
              <a:t>+278%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Porast ransomware napada na zdravstveni sektor (2018–2023)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3756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Primer</a:t>
            </a:r>
            <a:r>
              <a:rPr lang="en-US" sz="1300" b="1">
                <a:solidFill>
                  <a:srgbClr val="334155"/>
                </a:solidFill>
              </a:rPr>
              <a:t>: </a:t>
            </a:r>
            <a:r>
              <a:rPr lang="en-US" sz="1300" b="1" smtClean="0">
                <a:solidFill>
                  <a:srgbClr val="334155"/>
                </a:solidFill>
              </a:rPr>
              <a:t>Ponovna identifikacija (Sweeney</a:t>
            </a:r>
            <a:r>
              <a:rPr lang="en-US" sz="1300" b="1" dirty="0">
                <a:solidFill>
                  <a:srgbClr val="334155"/>
                </a:solidFill>
              </a:rPr>
              <a:t>, 2000)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7673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Kombinacija samo 3 </a:t>
            </a:r>
            <a:r>
              <a:rPr lang="en-US" sz="1200">
                <a:solidFill>
                  <a:srgbClr val="64748B"/>
                </a:solidFill>
              </a:rPr>
              <a:t>atributa </a:t>
            </a:r>
            <a:r>
              <a:rPr lang="en-US" sz="1200" smtClean="0">
                <a:solidFill>
                  <a:srgbClr val="64748B"/>
                </a:solidFill>
              </a:rPr>
              <a:t>kao </a:t>
            </a:r>
            <a:r>
              <a:rPr lang="sr-Latn-RS" sz="1200" smtClean="0">
                <a:solidFill>
                  <a:srgbClr val="64748B"/>
                </a:solidFill>
              </a:rPr>
              <a:t>što su</a:t>
            </a:r>
            <a:r>
              <a:rPr lang="en-US" sz="1200" smtClean="0">
                <a:solidFill>
                  <a:srgbClr val="64748B"/>
                </a:solidFill>
              </a:rPr>
              <a:t> </a:t>
            </a:r>
            <a:r>
              <a:rPr lang="en-US" sz="1200" dirty="0">
                <a:solidFill>
                  <a:srgbClr val="64748B"/>
                </a:solidFill>
              </a:rPr>
              <a:t>datum rođenja, pol i </a:t>
            </a:r>
            <a:r>
              <a:rPr lang="en-US" sz="1200">
                <a:solidFill>
                  <a:srgbClr val="64748B"/>
                </a:solidFill>
              </a:rPr>
              <a:t>poštanski </a:t>
            </a:r>
            <a:r>
              <a:rPr lang="en-US" sz="1200" smtClean="0">
                <a:solidFill>
                  <a:srgbClr val="64748B"/>
                </a:solidFill>
              </a:rPr>
              <a:t>broj</a:t>
            </a:r>
            <a:r>
              <a:rPr lang="sr-Latn-RS" sz="1200" smtClean="0">
                <a:solidFill>
                  <a:srgbClr val="64748B"/>
                </a:solidFill>
              </a:rPr>
              <a:t>, </a:t>
            </a:r>
            <a:r>
              <a:rPr lang="en-US" sz="1200" smtClean="0">
                <a:solidFill>
                  <a:srgbClr val="64748B"/>
                </a:solidFill>
              </a:rPr>
              <a:t> </a:t>
            </a:r>
            <a:r>
              <a:rPr lang="en-US" sz="1200" dirty="0">
                <a:solidFill>
                  <a:srgbClr val="64748B"/>
                </a:solidFill>
              </a:rPr>
              <a:t>jedinstveno identifikuje 87% stanovnika SAD. Uklanjanje imena nije dovoljno za zaštitu privatnosti.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12140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ETIČKI IZAZOVI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7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Informisani pristanak u eri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7764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— </a:t>
            </a:r>
            <a:r>
              <a:rPr lang="en-US" sz="1200" dirty="0">
                <a:solidFill>
                  <a:srgbClr val="CBD5E1"/>
                </a:solidFill>
              </a:rPr>
              <a:t>Pacijent potpisuje pristanak bez razumevanja kako će podaci biti korišćeni za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— </a:t>
            </a:r>
            <a:r>
              <a:rPr lang="en-US" sz="1200" dirty="0">
                <a:solidFill>
                  <a:srgbClr val="CBD5E1"/>
                </a:solidFill>
              </a:rPr>
              <a:t>AI sistemi se razvijaju u </a:t>
            </a:r>
            <a:r>
              <a:rPr lang="en-US" sz="1200">
                <a:solidFill>
                  <a:srgbClr val="CBD5E1"/>
                </a:solidFill>
              </a:rPr>
              <a:t>javno-privatnim </a:t>
            </a:r>
            <a:r>
              <a:rPr lang="en-US" sz="1200" smtClean="0">
                <a:solidFill>
                  <a:srgbClr val="CBD5E1"/>
                </a:solidFill>
              </a:rPr>
              <a:t>partnerstvima</a:t>
            </a:r>
            <a:r>
              <a:rPr lang="sr-Latn-RS" sz="1200" smtClean="0">
                <a:solidFill>
                  <a:srgbClr val="CBD5E1"/>
                </a:solidFill>
              </a:rPr>
              <a:t>,</a:t>
            </a:r>
            <a:r>
              <a:rPr lang="en-US" sz="1200" smtClean="0">
                <a:solidFill>
                  <a:srgbClr val="CBD5E1"/>
                </a:solidFill>
              </a:rPr>
              <a:t>  </a:t>
            </a:r>
            <a:r>
              <a:rPr lang="en-US" sz="1200" dirty="0">
                <a:solidFill>
                  <a:srgbClr val="CBD5E1"/>
                </a:solidFill>
              </a:rPr>
              <a:t>pristup komercijalnim kompanijama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33756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— </a:t>
            </a:r>
            <a:r>
              <a:rPr lang="en-US" sz="1200" dirty="0">
                <a:solidFill>
                  <a:srgbClr val="CBD5E1"/>
                </a:solidFill>
              </a:rPr>
              <a:t>Dinamički sistemi koji uče na </a:t>
            </a:r>
            <a:r>
              <a:rPr lang="en-US" sz="1200">
                <a:solidFill>
                  <a:srgbClr val="CBD5E1"/>
                </a:solidFill>
              </a:rPr>
              <a:t>novim </a:t>
            </a:r>
            <a:r>
              <a:rPr lang="en-US" sz="1200" smtClean="0">
                <a:solidFill>
                  <a:srgbClr val="CBD5E1"/>
                </a:solidFill>
              </a:rPr>
              <a:t>podacima</a:t>
            </a:r>
            <a:r>
              <a:rPr lang="sr-Latn-RS" sz="1200" smtClean="0">
                <a:solidFill>
                  <a:srgbClr val="CBD5E1"/>
                </a:solidFill>
              </a:rPr>
              <a:t>,</a:t>
            </a:r>
            <a:r>
              <a:rPr lang="en-US" sz="1200" smtClean="0">
                <a:solidFill>
                  <a:srgbClr val="CBD5E1"/>
                </a:solidFill>
              </a:rPr>
              <a:t> </a:t>
            </a:r>
            <a:r>
              <a:rPr lang="en-US" sz="1200" dirty="0">
                <a:solidFill>
                  <a:srgbClr val="CBD5E1"/>
                </a:solidFill>
              </a:rPr>
              <a:t>pristanak dat danas ne pokriva buduće upotrebe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3977640" cy="822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Primer iz prakse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NHS × Google DeepMind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Britanski Nacionalni zdravstveni servis (</a:t>
            </a:r>
            <a:r>
              <a:rPr lang="en-US" sz="1200">
                <a:solidFill>
                  <a:srgbClr val="CBD5E1"/>
                </a:solidFill>
              </a:rPr>
              <a:t>NHS</a:t>
            </a:r>
            <a:r>
              <a:rPr lang="en-US" sz="1200" smtClean="0">
                <a:solidFill>
                  <a:srgbClr val="CBD5E1"/>
                </a:solidFill>
              </a:rPr>
              <a:t>)</a:t>
            </a:r>
            <a:r>
              <a:rPr lang="sr-Latn-RS" sz="1200" smtClean="0">
                <a:solidFill>
                  <a:srgbClr val="CBD5E1"/>
                </a:solidFill>
              </a:rPr>
              <a:t> je</a:t>
            </a:r>
            <a:r>
              <a:rPr lang="en-US" sz="1200" smtClean="0">
                <a:solidFill>
                  <a:srgbClr val="CBD5E1"/>
                </a:solidFill>
              </a:rPr>
              <a:t> </a:t>
            </a:r>
            <a:r>
              <a:rPr lang="en-US" sz="1200" dirty="0">
                <a:solidFill>
                  <a:srgbClr val="CBD5E1"/>
                </a:solidFill>
              </a:rPr>
              <a:t>dao pristup podacima pacijenata kompaniji Google DeepMind bez adekvatnog obaveštavanja pacijenata, što je izazvalo značajnu javnu kritiku.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56607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6393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12140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ETIČKI IZAZOVI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34155"/>
                </a:solidFill>
              </a:rPr>
              <a:t>Pristrasnost </a:t>
            </a:r>
            <a:r>
              <a:rPr lang="en-US" sz="2200" b="1" smtClean="0">
                <a:solidFill>
                  <a:srgbClr val="334155"/>
                </a:solidFill>
              </a:rPr>
              <a:t>algoritam</a:t>
            </a:r>
            <a:r>
              <a:rPr lang="sr-Latn-RS" sz="2200" b="1" smtClean="0">
                <a:solidFill>
                  <a:srgbClr val="334155"/>
                </a:solidFill>
              </a:rPr>
              <a:t>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82296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Slučaj Obermeyer et al. (Science, 2019)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Komercijalni algoritam za trijažu pacijenata, koji je koristilo više miliona pacijenata u SAD, sistematski je podcenjivao zdravstvene potrebe afroameričkih pacijenata.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Uzrok: algoritam je koristio troškove zdravstvene zaštite kao zamenu za </a:t>
            </a:r>
            <a:r>
              <a:rPr lang="en-US" sz="1200">
                <a:solidFill>
                  <a:srgbClr val="64748B"/>
                </a:solidFill>
              </a:rPr>
              <a:t>zdravstvene </a:t>
            </a:r>
            <a:r>
              <a:rPr lang="en-US" sz="1200" smtClean="0">
                <a:solidFill>
                  <a:srgbClr val="64748B"/>
                </a:solidFill>
              </a:rPr>
              <a:t>potrebe</a:t>
            </a:r>
            <a:r>
              <a:rPr lang="sr-Latn-RS" sz="1200" smtClean="0">
                <a:solidFill>
                  <a:srgbClr val="64748B"/>
                </a:solidFill>
              </a:rPr>
              <a:t>,</a:t>
            </a:r>
            <a:r>
              <a:rPr lang="en-US" sz="1200" smtClean="0">
                <a:solidFill>
                  <a:srgbClr val="64748B"/>
                </a:solidFill>
              </a:rPr>
              <a:t> </a:t>
            </a:r>
            <a:r>
              <a:rPr lang="en-US" sz="1200" dirty="0">
                <a:solidFill>
                  <a:srgbClr val="64748B"/>
                </a:solidFill>
              </a:rPr>
              <a:t>ne uzimajući u obzir da afroamerički pacijenti istorijski troše manje usled sistemskih nejednakosti u pristupu medicinskim uslugama, a ne zato što su zdraviji.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</a:rPr>
              <a:t>&gt;50%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Manji udeo afroameričkih pacijenata identifikovan za proaktivno lečenje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47472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474720"/>
            <a:ext cx="73152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Pouka: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9136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Pristrasnost nije </a:t>
            </a:r>
            <a:r>
              <a:rPr lang="en-US" sz="1200">
                <a:solidFill>
                  <a:srgbClr val="334155"/>
                </a:solidFill>
              </a:rPr>
              <a:t>uvek </a:t>
            </a:r>
            <a:r>
              <a:rPr lang="en-US" sz="1200" smtClean="0">
                <a:solidFill>
                  <a:srgbClr val="334155"/>
                </a:solidFill>
              </a:rPr>
              <a:t>namerna</a:t>
            </a:r>
            <a:r>
              <a:rPr lang="sr-Latn-RS" sz="1200" smtClean="0">
                <a:solidFill>
                  <a:srgbClr val="334155"/>
                </a:solidFill>
              </a:rPr>
              <a:t>,</a:t>
            </a:r>
            <a:r>
              <a:rPr lang="en-US" sz="1200" smtClean="0">
                <a:solidFill>
                  <a:srgbClr val="334155"/>
                </a:solidFill>
              </a:rPr>
              <a:t> </a:t>
            </a:r>
            <a:r>
              <a:rPr lang="en-US" sz="1200" dirty="0">
                <a:solidFill>
                  <a:srgbClr val="334155"/>
                </a:solidFill>
              </a:rPr>
              <a:t>ona je često nehotična posledica podataka koji odražavaju postojeće društvene nejednakosti.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212140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ETIČKI IZAZOVI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92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"crne kutije"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Savremeni AI sistemi mogu biti izuzetno </a:t>
            </a:r>
            <a:r>
              <a:rPr lang="en-US" sz="1400" i="1">
                <a:solidFill>
                  <a:srgbClr val="94A3B8"/>
                </a:solidFill>
              </a:rPr>
              <a:t>precizni </a:t>
            </a:r>
            <a:r>
              <a:rPr lang="sr-Latn-RS" sz="1400" i="1" smtClean="0">
                <a:solidFill>
                  <a:srgbClr val="94A3B8"/>
                </a:solidFill>
              </a:rPr>
              <a:t>,</a:t>
            </a:r>
            <a:r>
              <a:rPr lang="en-US" sz="1400" i="1" smtClean="0">
                <a:solidFill>
                  <a:srgbClr val="94A3B8"/>
                </a:solidFill>
              </a:rPr>
              <a:t> </a:t>
            </a:r>
            <a:r>
              <a:rPr lang="en-US" sz="1400" i="1" dirty="0">
                <a:solidFill>
                  <a:srgbClr val="94A3B8"/>
                </a:solidFill>
              </a:rPr>
              <a:t>ali je gotovo nemoguće rekonstruisati logiku kojom su do zaključka došli.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874520"/>
            <a:ext cx="594360" cy="594360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4B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Za lekara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Dobija preporuku za dijagnozu bez mogućnosti da proveri na čemu se zasniva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874520"/>
            <a:ext cx="594360" cy="59436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4B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Za pacijenta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Ne može osporiti odluku zasnovanu na </a:t>
            </a:r>
            <a:r>
              <a:rPr lang="en-US" sz="1200">
                <a:solidFill>
                  <a:srgbClr val="CBD5E1"/>
                </a:solidFill>
              </a:rPr>
              <a:t>algoritmu </a:t>
            </a:r>
            <a:r>
              <a:rPr lang="sr-Latn-RS" sz="1200" smtClean="0">
                <a:solidFill>
                  <a:srgbClr val="CBD5E1"/>
                </a:solidFill>
              </a:rPr>
              <a:t>što</a:t>
            </a:r>
            <a:r>
              <a:rPr lang="en-US" sz="1200" smtClean="0">
                <a:solidFill>
                  <a:srgbClr val="CBD5E1"/>
                </a:solidFill>
              </a:rPr>
              <a:t> </a:t>
            </a:r>
            <a:r>
              <a:rPr lang="en-US" sz="1200" dirty="0">
                <a:solidFill>
                  <a:srgbClr val="CBD5E1"/>
                </a:solidFill>
              </a:rPr>
              <a:t>direktno krši GDPR pravo na objašnjenje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874520"/>
            <a:ext cx="594360" cy="59436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B4B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Za regulatora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0175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Ko snosi odgovornost: lekar, bolnica, ili proizvođač </a:t>
            </a:r>
            <a:r>
              <a:rPr lang="en-US" sz="1200">
                <a:solidFill>
                  <a:srgbClr val="CBD5E1"/>
                </a:solidFill>
              </a:rPr>
              <a:t>softvera</a:t>
            </a:r>
            <a:r>
              <a:rPr lang="en-US" sz="1200" smtClean="0">
                <a:solidFill>
                  <a:srgbClr val="CBD5E1"/>
                </a:solidFill>
              </a:rPr>
              <a:t>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</a:rPr>
              <a:t>XAI (Explainable AI) — oblast koja pokušava da odgovori na ovaj izazov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883664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PRAVNI OKVIR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</a:rPr>
              <a:t>GDPR i zdravstveni podaci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72768"/>
            <a:ext cx="502920" cy="502920"/>
          </a:xfrm>
          <a:prstGeom prst="line">
            <a:avLst/>
          </a:prstGeom>
          <a:solidFill>
            <a:srgbClr val="0D2B4B"/>
          </a:solidFill>
          <a:ln w="12700">
            <a:solidFill>
              <a:srgbClr val="0D2B4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45920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Čl. 9 GDPR — posebna kategorija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664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Zdravstveni, genetski i biometrijski podaci načelno zabranjeni za obradu; strogi uslovi za izuzetke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18872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572768"/>
            <a:ext cx="502920" cy="502920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645920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Minimizacija podataka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23560" y="1664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Prikupljati samo ono što je neophodno za </a:t>
            </a:r>
            <a:r>
              <a:rPr lang="en-US" sz="1100">
                <a:solidFill>
                  <a:srgbClr val="64748B"/>
                </a:solidFill>
              </a:rPr>
              <a:t>konkretnu </a:t>
            </a:r>
            <a:r>
              <a:rPr lang="en-US" sz="1100" smtClean="0">
                <a:solidFill>
                  <a:srgbClr val="64748B"/>
                </a:solidFill>
              </a:rPr>
              <a:t>svrhu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432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127248"/>
            <a:ext cx="502920" cy="50292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200400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Pravo na objašnjenje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280160" y="32186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Pacijent ima pravo da ne bude predmet odluka donetih isključivo automatizovanom obradom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00600" y="27432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83480" y="3127248"/>
            <a:ext cx="502920" cy="50292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200400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834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Ograničenje svrhe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23560" y="32186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Podaci prikupljeni za lečenje ne mogu biti upotrebljeni za treniranje komercijalnih AI modela bez pristanka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883664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PRAVNI OKVIR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0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Gde regulativa zaostaje?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02920" cy="50292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76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GDPR </a:t>
            </a:r>
            <a:r>
              <a:rPr lang="sr-Latn-RS" sz="1300" b="1" smtClean="0">
                <a:solidFill>
                  <a:srgbClr val="FFFFFF"/>
                </a:solidFill>
              </a:rPr>
              <a:t>je star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618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Donesen 2016</a:t>
            </a:r>
            <a:r>
              <a:rPr lang="en-US" sz="1200">
                <a:solidFill>
                  <a:srgbClr val="94A3B8"/>
                </a:solidFill>
              </a:rPr>
              <a:t>. </a:t>
            </a:r>
            <a:r>
              <a:rPr lang="en-US" sz="1200" smtClean="0">
                <a:solidFill>
                  <a:srgbClr val="94A3B8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pre ere dubokog učenja sa milijardama parametara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10972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554480"/>
            <a:ext cx="502920" cy="502920"/>
          </a:xfrm>
          <a:prstGeom prst="lin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6276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Prekogranična obrada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23560" y="161848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Podaci pacijenata u Srbiji mogu biti obrađivani na serverima u SAD ili Aziji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91840"/>
            <a:ext cx="502920" cy="502920"/>
          </a:xfrm>
          <a:prstGeom prst="lin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3649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971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Nema sertifikacije AI u medicini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355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Za razliku od lekova, medicinski AI sistemi prolaze kroz znatno manje regulatorne kontrole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00600" y="283464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3291840"/>
            <a:ext cx="502920" cy="50292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36499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971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EU AI </a:t>
            </a:r>
            <a:r>
              <a:rPr lang="en-US" sz="1300" b="1">
                <a:solidFill>
                  <a:srgbClr val="FFFFFF"/>
                </a:solidFill>
              </a:rPr>
              <a:t>Act </a:t>
            </a:r>
            <a:r>
              <a:rPr lang="sr-Latn-RS" sz="1300" b="1" smtClean="0">
                <a:solidFill>
                  <a:srgbClr val="FFFFFF"/>
                </a:solidFill>
              </a:rPr>
              <a:t>-</a:t>
            </a:r>
            <a:r>
              <a:rPr lang="en-US" sz="1300" b="1" smtClean="0">
                <a:solidFill>
                  <a:srgbClr val="FFFFFF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</a:rPr>
              <a:t>korak napred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33558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Medicinski AI sistemi svrstani su u kategoriju visokog rizika sa posebnim zahtevima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9304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REŠENJA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</a:rPr>
              <a:t>Tehnička rešenja koja nude nadu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0604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389888"/>
            <a:ext cx="594360" cy="594360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463040"/>
            <a:ext cx="448056" cy="448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21031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Federativno učenje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AI model se trenira lokalno na podacima svake institucije ponaosob. Podaci nikad ne napuštaju matičnu </a:t>
            </a:r>
            <a:r>
              <a:rPr lang="en-US" sz="1100">
                <a:solidFill>
                  <a:srgbClr val="64748B"/>
                </a:solidFill>
              </a:rPr>
              <a:t>instituciju </a:t>
            </a:r>
            <a:r>
              <a:rPr lang="sr-Latn-RS" sz="1100" smtClean="0">
                <a:solidFill>
                  <a:srgbClr val="64748B"/>
                </a:solidFill>
              </a:rPr>
              <a:t>već se samo </a:t>
            </a:r>
            <a:r>
              <a:rPr lang="en-US" sz="1100" smtClean="0">
                <a:solidFill>
                  <a:srgbClr val="64748B"/>
                </a:solidFill>
              </a:rPr>
              <a:t> razmenjuju </a:t>
            </a:r>
            <a:r>
              <a:rPr lang="en-US" sz="1100" dirty="0">
                <a:solidFill>
                  <a:srgbClr val="64748B"/>
                </a:solidFill>
              </a:rPr>
              <a:t>parametri modela.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251960"/>
            <a:ext cx="1783080" cy="2286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smtClean="0">
                <a:solidFill>
                  <a:srgbClr val="FFFFFF"/>
                </a:solidFill>
              </a:rPr>
              <a:t>Privatnost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184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188720"/>
            <a:ext cx="2606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389888"/>
            <a:ext cx="594360" cy="59436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463040"/>
            <a:ext cx="448056" cy="4480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1568" y="21031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Diferencijalna privatnost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29000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U algoritam se ugrađuje kontrolisana količina statističkog šuma koja sprečava rekonstrukciju individualnih podataka iz rezultata modela.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703320" y="4251960"/>
            <a:ext cx="178308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03320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Matematička garancija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264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188720"/>
            <a:ext cx="2606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32320" y="1389888"/>
            <a:ext cx="594360" cy="59436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463040"/>
            <a:ext cx="448056" cy="4480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36208" y="210312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Homomorfna enkripcija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263640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Obrada šifrovanih podataka bez </a:t>
            </a:r>
            <a:r>
              <a:rPr lang="en-US" sz="1100">
                <a:solidFill>
                  <a:srgbClr val="64748B"/>
                </a:solidFill>
              </a:rPr>
              <a:t>njihovog </a:t>
            </a:r>
            <a:r>
              <a:rPr lang="en-US" sz="1100" smtClean="0">
                <a:solidFill>
                  <a:srgbClr val="64748B"/>
                </a:solidFill>
              </a:rPr>
              <a:t>dešifrovanja</a:t>
            </a:r>
            <a:r>
              <a:rPr lang="sr-Latn-RS" sz="1100" smtClean="0">
                <a:solidFill>
                  <a:srgbClr val="64748B"/>
                </a:solidFill>
              </a:rPr>
              <a:t>, </a:t>
            </a:r>
            <a:r>
              <a:rPr lang="en-US" sz="1100" smtClean="0">
                <a:solidFill>
                  <a:srgbClr val="64748B"/>
                </a:solidFill>
              </a:rPr>
              <a:t> </a:t>
            </a:r>
            <a:r>
              <a:rPr lang="en-US" sz="1100" dirty="0">
                <a:solidFill>
                  <a:srgbClr val="64748B"/>
                </a:solidFill>
              </a:rPr>
              <a:t>moćan AI modeli mogu se razvijati bez pristupa originalnim osetljivim podacima.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37960" y="4251960"/>
            <a:ext cx="1783080" cy="2286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37960" y="42519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Kriptografski pristup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52704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ZAKLJUČAK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4956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Šta smo zaključili?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AI u medicini donosi ogromne </a:t>
            </a:r>
            <a:r>
              <a:rPr lang="en-US" sz="1400">
                <a:solidFill>
                  <a:srgbClr val="FFFFFF"/>
                </a:solidFill>
              </a:rPr>
              <a:t>koristi </a:t>
            </a:r>
            <a:r>
              <a:rPr lang="sr-Latn-RS" sz="1400" smtClean="0">
                <a:solidFill>
                  <a:srgbClr val="FFFFFF"/>
                </a:solidFill>
              </a:rPr>
              <a:t>,</a:t>
            </a:r>
            <a:r>
              <a:rPr lang="en-US" sz="140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ali i strukturne rizike koji zahtevaju sistemski odgovor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786384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Zaštita privatnosti nije prepreka </a:t>
            </a:r>
            <a:r>
              <a:rPr lang="en-US" sz="1400">
                <a:solidFill>
                  <a:srgbClr val="FFFFFF"/>
                </a:solidFill>
              </a:rPr>
              <a:t>napretku </a:t>
            </a:r>
            <a:r>
              <a:rPr lang="sr-Latn-RS" sz="1400" smtClean="0">
                <a:solidFill>
                  <a:srgbClr val="FFFFFF"/>
                </a:solidFill>
              </a:rPr>
              <a:t>,</a:t>
            </a:r>
            <a:r>
              <a:rPr lang="en-US" sz="140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ona je uslov pod kojim taj napredak može biti pravedan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71800"/>
            <a:ext cx="786384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Tehnička rešenja postoje (federativno učenje, diferencijalna privatnost</a:t>
            </a:r>
            <a:r>
              <a:rPr lang="en-US" sz="1400">
                <a:solidFill>
                  <a:srgbClr val="FFFFFF"/>
                </a:solidFill>
              </a:rPr>
              <a:t>) </a:t>
            </a:r>
            <a:r>
              <a:rPr lang="sr-Latn-RS" sz="1400" smtClean="0">
                <a:solidFill>
                  <a:srgbClr val="FFFFFF"/>
                </a:solidFill>
              </a:rPr>
              <a:t>,</a:t>
            </a:r>
            <a:r>
              <a:rPr lang="en-US" sz="140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nedostaje institucionalnih kapaciteta da se primene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F3456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31920"/>
            <a:ext cx="786384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Regulativa zaostaje za </a:t>
            </a:r>
            <a:r>
              <a:rPr lang="en-US" sz="1400">
                <a:solidFill>
                  <a:srgbClr val="FFFFFF"/>
                </a:solidFill>
              </a:rPr>
              <a:t>tempom </a:t>
            </a:r>
            <a:r>
              <a:rPr lang="en-US" sz="1400" smtClean="0">
                <a:solidFill>
                  <a:srgbClr val="FFFFFF"/>
                </a:solidFill>
              </a:rPr>
              <a:t>razvoja</a:t>
            </a:r>
            <a:r>
              <a:rPr lang="sr-Latn-RS" sz="1400" smtClean="0">
                <a:solidFill>
                  <a:srgbClr val="FFFFFF"/>
                </a:solidFill>
              </a:rPr>
              <a:t>,</a:t>
            </a:r>
            <a:r>
              <a:rPr lang="en-US" sz="1400" smtClean="0">
                <a:solidFill>
                  <a:srgbClr val="FFFFFF"/>
                </a:solidFill>
              </a:rPr>
              <a:t> </a:t>
            </a:r>
            <a:r>
              <a:rPr lang="en-US" sz="1400" dirty="0">
                <a:solidFill>
                  <a:srgbClr val="FFFFFF"/>
                </a:solidFill>
              </a:rPr>
              <a:t>GDPR je tek početak, EU AI Act korak napred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527048" cy="292608"/>
          </a:xfrm>
          <a:prstGeom prst="roundRect">
            <a:avLst>
              <a:gd name="adj" fmla="val 1875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ZAKLJUČAK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4155"/>
                </a:solidFill>
              </a:rPr>
              <a:t>Pitanja koja ostaju otvorena...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44168"/>
            <a:ext cx="438912" cy="438912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736092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it-IT" sz="1300" dirty="0" smtClean="0">
                <a:solidFill>
                  <a:srgbClr val="334155"/>
                </a:solidFill>
              </a:rPr>
              <a:t>Da li je potpuna privatnost zdravstvenih podataka moguća u eri velikih podataka?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258568"/>
            <a:ext cx="438912" cy="438912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103120"/>
            <a:ext cx="736092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Ko snosi odgovornost kada automatizovana odluka </a:t>
            </a:r>
            <a:r>
              <a:rPr lang="en-US" sz="1300" dirty="0" err="1">
                <a:solidFill>
                  <a:srgbClr val="334155"/>
                </a:solidFill>
              </a:rPr>
              <a:t>našteti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 smtClean="0">
                <a:solidFill>
                  <a:srgbClr val="334155"/>
                </a:solidFill>
              </a:rPr>
              <a:t>pacijentu</a:t>
            </a:r>
            <a:r>
              <a:rPr lang="sr-Latn-RS" sz="1300" dirty="0" smtClean="0">
                <a:solidFill>
                  <a:srgbClr val="334155"/>
                </a:solidFill>
              </a:rPr>
              <a:t>:</a:t>
            </a:r>
            <a:r>
              <a:rPr lang="en-US" sz="1300" dirty="0" smtClean="0">
                <a:solidFill>
                  <a:srgbClr val="334155"/>
                </a:solidFill>
              </a:rPr>
              <a:t> </a:t>
            </a:r>
            <a:r>
              <a:rPr lang="en-US" sz="1300" dirty="0">
                <a:solidFill>
                  <a:srgbClr val="334155"/>
                </a:solidFill>
              </a:rPr>
              <a:t>lekar, bolnica ili proizvođač softvera?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72968"/>
            <a:ext cx="438912" cy="438912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736092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00" dirty="0">
                <a:solidFill>
                  <a:srgbClr val="334155"/>
                </a:solidFill>
              </a:rPr>
              <a:t>Da li </a:t>
            </a:r>
            <a:r>
              <a:rPr lang="en-US" sz="1300" dirty="0" err="1">
                <a:solidFill>
                  <a:srgbClr val="334155"/>
                </a:solidFill>
              </a:rPr>
              <a:t>medicinski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napredak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opravdava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sekundarnu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upotrebu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zdravstvenih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 smtClean="0">
                <a:solidFill>
                  <a:srgbClr val="334155"/>
                </a:solidFill>
              </a:rPr>
              <a:t>podataka</a:t>
            </a:r>
            <a:r>
              <a:rPr lang="en-US" sz="1300" dirty="0">
                <a:solidFill>
                  <a:srgbClr val="334155"/>
                </a:solidFill>
              </a:rPr>
              <a:t>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4087368"/>
            <a:ext cx="438912" cy="438912"/>
          </a:xfrm>
          <a:prstGeom prst="lin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931920"/>
            <a:ext cx="7360920" cy="7498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00" dirty="0" err="1">
                <a:solidFill>
                  <a:srgbClr val="334155"/>
                </a:solidFill>
              </a:rPr>
              <a:t>Kako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uskladiti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javni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interes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i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pravo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pojedinca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na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privatnost</a:t>
            </a:r>
            <a:r>
              <a:rPr lang="en-US" sz="1300" dirty="0">
                <a:solidFill>
                  <a:srgbClr val="334155"/>
                </a:solidFill>
              </a:rPr>
              <a:t>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B"/>
          </a:solidFill>
          <a:ln w="12700">
            <a:solidFill>
              <a:srgbClr val="0D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Privatnost zdravstvenih podataka nije prepreka </a:t>
            </a:r>
            <a:r>
              <a:rPr lang="en-US" sz="1400" i="1">
                <a:solidFill>
                  <a:srgbClr val="94A3B8"/>
                </a:solidFill>
              </a:rPr>
              <a:t>napretku </a:t>
            </a:r>
            <a:r>
              <a:rPr lang="en-US" sz="1400" i="1" smtClean="0">
                <a:solidFill>
                  <a:srgbClr val="94A3B8"/>
                </a:solidFill>
              </a:rPr>
              <a:t>medicine</a:t>
            </a:r>
            <a:r>
              <a:rPr lang="sr-Latn-RS" sz="1400" i="1" smtClean="0">
                <a:solidFill>
                  <a:srgbClr val="94A3B8"/>
                </a:solidFill>
              </a:rPr>
              <a:t>, </a:t>
            </a:r>
            <a:r>
              <a:rPr lang="en-US" sz="1400" i="1" smtClean="0">
                <a:solidFill>
                  <a:srgbClr val="94A3B8"/>
                </a:solidFill>
              </a:rPr>
              <a:t>ona </a:t>
            </a:r>
            <a:r>
              <a:rPr lang="en-US" sz="1400" i="1" dirty="0">
                <a:solidFill>
                  <a:srgbClr val="94A3B8"/>
                </a:solidFill>
              </a:rPr>
              <a:t>je uslov pod kojim taj napredak moze biti pravedan i vredan poverenja.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Sara Kabić  ·  168/2021  ·  Računarstvo i </a:t>
            </a:r>
            <a:r>
              <a:rPr lang="en-US" sz="1100">
                <a:solidFill>
                  <a:srgbClr val="64748B"/>
                </a:solidFill>
              </a:rPr>
              <a:t>društvo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972</Words>
  <Application>Microsoft Office PowerPoint</Application>
  <PresentationFormat>On-screen Show (16:9)</PresentationFormat>
  <Paragraphs>149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 privatnost zdravstvenih podataka</dc:title>
  <dc:subject>PptxGenJS Presentation</dc:subject>
  <dc:creator>PptxGenJS</dc:creator>
  <cp:lastModifiedBy>Fujitsu</cp:lastModifiedBy>
  <cp:revision>4</cp:revision>
  <dcterms:created xsi:type="dcterms:W3CDTF">2026-06-01T22:01:01Z</dcterms:created>
  <dcterms:modified xsi:type="dcterms:W3CDTF">2026-06-02T09:11:53Z</dcterms:modified>
</cp:coreProperties>
</file>