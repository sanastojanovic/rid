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c2fd3a2d0_2_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c2fd3a2d0_2_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c2fd3a2d0_2_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2fd3a2d0_2_2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c2fd3a2d0_2_2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c2fd3a2d0_2_2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2fd3a2d0_2_4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ec2fd3a2d0_2_4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c2fd3a2d0_2_4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c2fd3a2d0_2_7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c2fd3a2d0_2_7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c2fd3a2d0_2_7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c2fd3a2d0_2_9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ec2fd3a2d0_2_9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c2fd3a2d0_2_9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c2fd3a2d0_2_11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ec2fd3a2d0_2_11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c2fd3a2d0_2_11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c2fd3a2d0_2_12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ec2fd3a2d0_2_12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ec2fd3a2d0_2_12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2fd3a2d0_2_14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ec2fd3a2d0_2_14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c2fd3a2d0_2_14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c2fd3a2d0_2_16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ec2fd3a2d0_2_16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c2fd3a2d0_2_16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c2fd3a2d0_2_18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ec2fd3a2d0_2_18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c2fd3a2d0_2_18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7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7063928" y="-1508760"/>
            <a:ext cx="3840582" cy="3840480"/>
          </a:xfrm>
          <a:prstGeom prst="ellipse">
            <a:avLst/>
          </a:prstGeom>
          <a:solidFill>
            <a:srgbClr val="F2545B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8024074" y="3223260"/>
            <a:ext cx="2468946" cy="2468880"/>
          </a:xfrm>
          <a:prstGeom prst="ellipse">
            <a:avLst/>
          </a:prstGeom>
          <a:solidFill>
            <a:srgbClr val="F2545B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51527" y="788670"/>
            <a:ext cx="562371" cy="56235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eye.png" id="60" name="Google Shape;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367" y="940506"/>
            <a:ext cx="258684" cy="25868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>
            <a:off x="1337346" y="918972"/>
            <a:ext cx="617236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SEMINARSKI RAD · RAČUNARSTVO I DRUŠTVO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17236" y="1474470"/>
            <a:ext cx="7544001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mbria"/>
              <a:buNone/>
            </a:pPr>
            <a:r>
              <a:rPr b="1" i="0" lang="en" sz="4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Dark Patterns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51527" y="229743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8DA"/>
              </a:buClr>
              <a:buSzPts val="2000"/>
              <a:buFont typeface="Cambria"/>
              <a:buNone/>
            </a:pPr>
            <a:r>
              <a:rPr b="0" i="1" lang="en" sz="2000" u="none" cap="none" strike="noStrike">
                <a:solidFill>
                  <a:srgbClr val="C7C8DA"/>
                </a:solidFill>
                <a:latin typeface="Cambria"/>
                <a:ea typeface="Cambria"/>
                <a:cs typeface="Cambria"/>
                <a:sym typeface="Cambria"/>
              </a:rPr>
              <a:t>Tamni obrasci u dizajnu korisničkog interfejsa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51527" y="291465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Manipulativni dizajn, etika i zaštita korisnika u digitalnom dobu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51527" y="366903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51527" y="3888486"/>
            <a:ext cx="301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Aleksa Vukadinović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FB1C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FB1C4"/>
                </a:solidFill>
                <a:latin typeface="Calibri"/>
                <a:ea typeface="Calibri"/>
                <a:cs typeface="Calibri"/>
                <a:sym typeface="Calibri"/>
              </a:rPr>
              <a:t>Indeks: 103/2022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909164" y="366903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PROFESOR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3909164" y="3888486"/>
            <a:ext cx="34290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 Sana Stojanović Đurđević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FB1C4"/>
              </a:buClr>
              <a:buSzPts val="1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7544001" y="3703320"/>
            <a:ext cx="109730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Maj 2026.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UVOD U TEMU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80073" y="651510"/>
            <a:ext cx="617236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Šta su tamni obrasci?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480073" y="1371600"/>
            <a:ext cx="390916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Tamni obrasci (</a:t>
            </a:r>
            <a:r>
              <a:rPr b="0" i="1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dark patterns</a:t>
            </a: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) su elementi korisničkog interfejsa koji su </a:t>
            </a:r>
            <a:r>
              <a:rPr b="1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namerno</a:t>
            </a: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 projektovani da prevare ili navedu korisnike na odluke koje idu u prilog platformi</a:t>
            </a:r>
            <a:r>
              <a:rPr lang="en" sz="1200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često na štetu samog pojedinca.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0073" y="2434590"/>
            <a:ext cx="39091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Termin je 2010. uveo britanski UI/UX dizajner </a:t>
            </a:r>
            <a:r>
              <a:rPr b="1" i="0" lang="en" sz="12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Harry Brignull</a:t>
            </a: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. Za razliku od običnih grešaka, oni su svesni i koriste znanje iz psihologije i analitike podataka.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80073" y="3463290"/>
            <a:ext cx="3909164" cy="994410"/>
          </a:xfrm>
          <a:prstGeom prst="roundRect">
            <a:avLst>
              <a:gd fmla="val 8276" name="adj"/>
            </a:avLst>
          </a:prstGeom>
          <a:solidFill>
            <a:srgbClr val="16172A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685818" y="3552444"/>
            <a:ext cx="1783128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3300"/>
              <a:buFont typeface="Cambria"/>
              <a:buNone/>
            </a:pPr>
            <a:r>
              <a:rPr b="1" i="0" lang="en" sz="3300" u="none" cap="none" strike="noStrike">
                <a:solidFill>
                  <a:srgbClr val="F2545B"/>
                </a:solidFill>
                <a:latin typeface="Cambria"/>
                <a:ea typeface="Cambria"/>
                <a:cs typeface="Cambria"/>
                <a:sym typeface="Cambria"/>
              </a:rPr>
              <a:t>11.000+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331782" y="3552444"/>
            <a:ext cx="1954582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7D8E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7D8E4"/>
                </a:solidFill>
                <a:latin typeface="Calibri"/>
                <a:ea typeface="Calibri"/>
                <a:cs typeface="Calibri"/>
                <a:sym typeface="Calibri"/>
              </a:rPr>
              <a:t>sajtova za e-trgovinu analizirano u temeljnoj studiji o rasprostranjenosti tamnih obrazaca (Princeton, 2019).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697855" y="1371600"/>
            <a:ext cx="3943455" cy="925830"/>
          </a:xfrm>
          <a:prstGeom prst="roundRect">
            <a:avLst>
              <a:gd fmla="val 7407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869310" y="1597914"/>
            <a:ext cx="480073" cy="48006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warn.png"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8930" y="1727531"/>
            <a:ext cx="220828" cy="2208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5520837" y="1522476"/>
            <a:ext cx="301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Namerni i svesni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520837" y="1803654"/>
            <a:ext cx="3051891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Iza njih stoje timovi dizajnera i psihologa — nisu slučajni propust.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4697855" y="2434590"/>
            <a:ext cx="3943455" cy="925830"/>
          </a:xfrm>
          <a:prstGeom prst="roundRect">
            <a:avLst>
              <a:gd fmla="val 7407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4869310" y="2660904"/>
            <a:ext cx="480073" cy="48006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brain.png" id="89" name="Google Shape;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8930" y="2790521"/>
            <a:ext cx="220828" cy="2208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5520837" y="2585466"/>
            <a:ext cx="301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Psihološki zasnovani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520837" y="2866644"/>
            <a:ext cx="3051891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Koriste kognitivne slabosti: žurbu, strah od propuštanja, krivicu.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697855" y="3497580"/>
            <a:ext cx="3943455" cy="925830"/>
          </a:xfrm>
          <a:prstGeom prst="roundRect">
            <a:avLst>
              <a:gd fmla="val 7407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869310" y="3723894"/>
            <a:ext cx="480073" cy="48006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users.png" id="94" name="Google Shape;9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8930" y="3853511"/>
            <a:ext cx="220828" cy="22082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5520837" y="3648456"/>
            <a:ext cx="301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U korist platforme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520837" y="3929634"/>
            <a:ext cx="3051891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Cilj je više vremena, novca i podataka — ne korist korisnika.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ISTORIJSKI KONTEKST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80073" y="651510"/>
            <a:ext cx="78869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Evolucija manipulacije interfejsom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80073" y="1200150"/>
            <a:ext cx="80926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Manipulativne tehnike postojale su i pre interneta — digitalno okruženje samo im je dalo nove, suptilnije oblike.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80073" y="1748790"/>
            <a:ext cx="2647259" cy="2434590"/>
          </a:xfrm>
          <a:prstGeom prst="roundRect">
            <a:avLst>
              <a:gd fmla="val 3380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720109" y="2023110"/>
            <a:ext cx="534938" cy="534924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history.png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543" y="2167540"/>
            <a:ext cx="246065" cy="246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2372931" y="1968246"/>
            <a:ext cx="5829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DBE6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DCDBE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720109" y="2743200"/>
            <a:ext cx="2235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Pre digitalnog doba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720109" y="3188970"/>
            <a:ext cx="2235768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Skriveni troškovi na kraju kupovine, sitan font u ugovorima, obmanjujuće pakovanje — klasične trgovačke prakse.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312502" y="1748790"/>
            <a:ext cx="2647259" cy="2434590"/>
          </a:xfrm>
          <a:prstGeom prst="roundRect">
            <a:avLst>
              <a:gd fmla="val 3380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3552539" y="2023110"/>
            <a:ext cx="534938" cy="534924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warn.png" id="116" name="Google Shape;1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6972" y="2167540"/>
            <a:ext cx="246065" cy="246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5205361" y="1968246"/>
            <a:ext cx="5829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DBE6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DCDBE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552539" y="2743200"/>
            <a:ext cx="2235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Web 1.0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552539" y="3188970"/>
            <a:ext cx="2235768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Otvorene i uočljive prevare: spam poruke, agresivni pop-up prozori, lažna sistemska upozorenja. Korisnici nauče da ih izbegavaju.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144932" y="1748790"/>
            <a:ext cx="2647259" cy="2434590"/>
          </a:xfrm>
          <a:prstGeom prst="roundRect">
            <a:avLst>
              <a:gd fmla="val 3380" name="adj"/>
            </a:avLst>
          </a:prstGeom>
          <a:solidFill>
            <a:srgbClr val="16172A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6384968" y="2023110"/>
            <a:ext cx="534938" cy="534924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brain.png" id="122" name="Google Shape;12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9402" y="2167540"/>
            <a:ext cx="246065" cy="2460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8037790" y="1968246"/>
            <a:ext cx="5829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3C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3A3C5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384968" y="2743200"/>
            <a:ext cx="2235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2.0 — danas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384968" y="3188970"/>
            <a:ext cx="2235768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9CAD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9CAD8"/>
                </a:solidFill>
                <a:latin typeface="Calibri"/>
                <a:ea typeface="Calibri"/>
                <a:cs typeface="Calibri"/>
                <a:sym typeface="Calibri"/>
              </a:rPr>
              <a:t>Pažnja postaje resurs. A/B testiranje, analiza ponašanja i psihologija stvaraju suptilne obrasce skrojene po meri korisnika.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117044" y="2657475"/>
            <a:ext cx="2743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2300"/>
              <a:buFont typeface="Calibri"/>
              <a:buNone/>
            </a:pPr>
            <a:r>
              <a:rPr b="1" i="0" lang="en" sz="23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935757" y="2657475"/>
            <a:ext cx="2743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2300"/>
              <a:buFont typeface="Calibri"/>
              <a:buNone/>
            </a:pPr>
            <a:r>
              <a:rPr b="1" i="0" lang="en" sz="23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VRSTE TAMNIH OBRAZACA ·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80073" y="651510"/>
            <a:ext cx="39091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Asimetrija izbora i usmeravanje pažnje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80073" y="1337310"/>
            <a:ext cx="38405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Cookie baneri i podešavanja privatnosti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93789" y="1680210"/>
            <a:ext cx="384058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605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Vizuelna organizacija čini jednu opciju mnogo upadljivijom od drugih, iako formalno postoji izbor.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Dugme „Prihvati sve” je veliko i kontrastno, dok su „Odbij sve” i „Podešavanja” sitni ili skriveni.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Zahtevi propisa (npr. GDPR) formalno su ispunjeni, ali je stvarna sloboda izbora umanjena.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80073" y="3669030"/>
            <a:ext cx="3854299" cy="857250"/>
          </a:xfrm>
          <a:prstGeom prst="roundRect">
            <a:avLst>
              <a:gd fmla="val 8000" name="adj"/>
            </a:avLst>
          </a:prstGeom>
          <a:solidFill>
            <a:srgbClr val="FCEAEA"/>
          </a:solidFill>
          <a:ln>
            <a:noFill/>
          </a:ln>
          <a:effectLst>
            <a:outerShdw blurRad="1143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685818" y="3771900"/>
            <a:ext cx="34290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MEHANIZAM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85818" y="3977640"/>
            <a:ext cx="34633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3B4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3B40"/>
                </a:solidFill>
                <a:latin typeface="Calibri"/>
                <a:ea typeface="Calibri"/>
                <a:cs typeface="Calibri"/>
                <a:sym typeface="Calibri"/>
              </a:rPr>
              <a:t>Korisnik se vizuelno gura ka opciji koja je najpovoljnija za platformu, a ne za njega.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540117" y="1062990"/>
            <a:ext cx="4149201" cy="2872447"/>
          </a:xfrm>
          <a:prstGeom prst="roundRect">
            <a:avLst>
              <a:gd fmla="val 1910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mock_cooki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4982" y="1117854"/>
            <a:ext cx="4039362" cy="276271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VRSTE TAMNIH OBRAZACA ·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80073" y="651510"/>
            <a:ext cx="39091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Veštački osećaj hitnosti i lažni popusti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80073" y="1337310"/>
            <a:ext cx="38405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FOMO — Fear of Missing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93789" y="1680210"/>
            <a:ext cx="384058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605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Poruke poput „Još samo 2 na stanju” i odbrojavanja stvaraju utisak da treba reagovati odmah.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Istraživanje je našlo brojne slučajeve gde popusti i zalihe nisu stvarni, već automatski generisani.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Koristi se strah od propuštanja prilike (FOMO) da bi se preskočilo pažljivo razmišljanje.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80073" y="3669030"/>
            <a:ext cx="3854299" cy="857250"/>
          </a:xfrm>
          <a:prstGeom prst="roundRect">
            <a:avLst>
              <a:gd fmla="val 8000" name="adj"/>
            </a:avLst>
          </a:prstGeom>
          <a:solidFill>
            <a:srgbClr val="FCEAEA"/>
          </a:solidFill>
          <a:ln>
            <a:noFill/>
          </a:ln>
          <a:effectLst>
            <a:outerShdw blurRad="1143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685818" y="3771900"/>
            <a:ext cx="34290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POSLEDICA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685818" y="3977640"/>
            <a:ext cx="34633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3B4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3B40"/>
                </a:solidFill>
                <a:latin typeface="Calibri"/>
                <a:ea typeface="Calibri"/>
                <a:cs typeface="Calibri"/>
                <a:sym typeface="Calibri"/>
              </a:rPr>
              <a:t>Povećana verovatnoća impulsivne kupovine i prihvatanja uslova bez razmatranja.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540117" y="1062990"/>
            <a:ext cx="4149201" cy="2872447"/>
          </a:xfrm>
          <a:prstGeom prst="roundRect">
            <a:avLst>
              <a:gd fmla="val 1910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mock_urgency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4982" y="1117854"/>
            <a:ext cx="4039362" cy="27627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VRSTE TAMNIH OBRAZACA ·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80073" y="651510"/>
            <a:ext cx="39091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Prikriveni troškovi i otežano odustajanje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80073" y="1337310"/>
            <a:ext cx="38405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Sneak into Basket · Roach Motel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93789" y="1680210"/>
            <a:ext cx="384058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605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1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Sneak into Basket</a:t>
            </a: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: dodatne usluge ili softver (McAfee, Avast…) unapred su označeni i dodaju se neprimetno.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1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Roach Motel</a:t>
            </a: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: prijava je laka, a otkazivanje namerno složeno — više menija, formulara, poziva podršci.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FTC je 2024</a:t>
            </a: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. tužio Adobe zbog skrivenih naknada i namerno otežanog otkazivanja pretplate.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80073" y="3669030"/>
            <a:ext cx="3854299" cy="857250"/>
          </a:xfrm>
          <a:prstGeom prst="roundRect">
            <a:avLst>
              <a:gd fmla="val 8000" name="adj"/>
            </a:avLst>
          </a:prstGeom>
          <a:solidFill>
            <a:srgbClr val="FCEAEA"/>
          </a:solidFill>
          <a:ln>
            <a:noFill/>
          </a:ln>
          <a:effectLst>
            <a:outerShdw blurRad="1143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685818" y="3771900"/>
            <a:ext cx="34290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OBRAZAC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85818" y="3977640"/>
            <a:ext cx="34633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3B4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3B40"/>
                </a:solidFill>
                <a:latin typeface="Calibri"/>
                <a:ea typeface="Calibri"/>
                <a:cs typeface="Calibri"/>
                <a:sym typeface="Calibri"/>
              </a:rPr>
              <a:t>Asimetrija „lako uđi, teško izađi” povećava šansu da korisnik odustane od otkazivanja.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540117" y="1062990"/>
            <a:ext cx="4149201" cy="2872447"/>
          </a:xfrm>
          <a:prstGeom prst="roundRect">
            <a:avLst>
              <a:gd fmla="val 1910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mock_installer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4982" y="1117854"/>
            <a:ext cx="4039362" cy="2762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VRSTE TAMNIH OBRAZACA ·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80073" y="651510"/>
            <a:ext cx="39091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Lingvistička manipulacija — Confirmshaming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80073" y="1337310"/>
            <a:ext cx="38405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Confirmshaming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93789" y="1680210"/>
            <a:ext cx="384058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605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Opcija za odbijanje nije neutralna, već formulisana da izazove krivicu ili nelagodnost.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Primeri: „Ne, ne želim da štedim novac” ili „Ne, ne zanima me zdravlje moje dece”.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5240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Izbor formalno ostaje, ali se menja način na koji ga korisnik doživljava.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80073" y="3669030"/>
            <a:ext cx="3854299" cy="857250"/>
          </a:xfrm>
          <a:prstGeom prst="roundRect">
            <a:avLst>
              <a:gd fmla="val 8000" name="adj"/>
            </a:avLst>
          </a:prstGeom>
          <a:solidFill>
            <a:srgbClr val="FCEAEA"/>
          </a:solidFill>
          <a:ln>
            <a:noFill/>
          </a:ln>
          <a:effectLst>
            <a:outerShdw blurRad="1143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685818" y="3771900"/>
            <a:ext cx="34290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TEHNIKA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85818" y="3977640"/>
            <a:ext cx="34633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3B4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3B40"/>
                </a:solidFill>
                <a:latin typeface="Calibri"/>
                <a:ea typeface="Calibri"/>
                <a:cs typeface="Calibri"/>
                <a:sym typeface="Calibri"/>
              </a:rPr>
              <a:t>Pritisak kroz jezik i emocije, a ne kroz ograničavanje stvarnih opcija.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40117" y="1062990"/>
            <a:ext cx="4149201" cy="2872447"/>
          </a:xfrm>
          <a:prstGeom prst="roundRect">
            <a:avLst>
              <a:gd fmla="val 1910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mock_confirm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4982" y="1117854"/>
            <a:ext cx="4039362" cy="276271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ETIKA I DRUŠTVO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480073" y="651510"/>
            <a:ext cx="80926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500"/>
              <a:buFont typeface="Cambria"/>
              <a:buNone/>
            </a:pPr>
            <a:r>
              <a:rPr b="1" i="0" lang="en" sz="25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Etička odgovornost i digitalna pismenost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480073" y="1371600"/>
            <a:ext cx="3964030" cy="2983230"/>
          </a:xfrm>
          <a:prstGeom prst="roundRect">
            <a:avLst>
              <a:gd fmla="val 2759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720109" y="1632204"/>
            <a:ext cx="548655" cy="54864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scal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46" y="1780336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/>
          <p:nvPr/>
        </p:nvSpPr>
        <p:spPr>
          <a:xfrm>
            <a:off x="1405927" y="1659636"/>
            <a:ext cx="24003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Profesionalna etika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54400" y="2366010"/>
            <a:ext cx="3483957" cy="188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875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Etički kodeks ACM-a traži da računarski stručnjaci doprinose dobrobiti društva i izbegavaju štetu korisnicima.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524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Programeri i dizajneri stalno su između poslovnih ciljeva (konverzija, pretplate) i interesa korisnika.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524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55596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Beskonačno skrolovanje i obaveštenja, uz druge tehnike, mogu produžiti zadržavanje i otežati kontrolu navika.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697855" y="1371600"/>
            <a:ext cx="3964030" cy="2983230"/>
          </a:xfrm>
          <a:prstGeom prst="roundRect">
            <a:avLst>
              <a:gd fmla="val 2759" name="adj"/>
            </a:avLst>
          </a:prstGeom>
          <a:solidFill>
            <a:srgbClr val="16172A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4937892" y="1632204"/>
            <a:ext cx="548655" cy="54864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grad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6028" y="1780336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5623710" y="1659636"/>
            <a:ext cx="288043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Digitalna pismenost u Srbiji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985899" y="2366010"/>
            <a:ext cx="3415375" cy="188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875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FD0DE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CFD0DE"/>
                </a:solidFill>
                <a:latin typeface="Calibri"/>
                <a:ea typeface="Calibri"/>
                <a:cs typeface="Calibri"/>
                <a:sym typeface="Calibri"/>
              </a:rPr>
              <a:t>Sposobnost da se prepozna manipulacija zavisi od digitalnog obrazovanja i iskustva.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524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CFD0DE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CFD0DE"/>
                </a:solidFill>
                <a:latin typeface="Calibri"/>
                <a:ea typeface="Calibri"/>
                <a:cs typeface="Calibri"/>
                <a:sym typeface="Calibri"/>
              </a:rPr>
              <a:t>Postoje velike razlike među generacijama — stariji korisnici teže razlikuju legitimne od manipulativnih elemenata.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524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CFD0DE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CFD0DE"/>
                </a:solidFill>
                <a:latin typeface="Calibri"/>
                <a:ea typeface="Calibri"/>
                <a:cs typeface="Calibri"/>
                <a:sym typeface="Calibri"/>
              </a:rPr>
              <a:t>Reklame u obliku dugmadi „Preuzmi” i nejasne pretplate vode ka neželjenim klikovima i troškovima.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524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CFD0DE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CFD0DE"/>
                </a:solidFill>
                <a:latin typeface="Calibri"/>
                <a:ea typeface="Calibri"/>
                <a:cs typeface="Calibri"/>
                <a:sym typeface="Calibri"/>
              </a:rPr>
              <a:t>Obrazovanje je jednako važno kao zakoni i odgovornost kompanija.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480073" y="41148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PRAVNI I TEHNIČKI PRISTUPI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80073" y="651510"/>
            <a:ext cx="78869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6172A"/>
                </a:solidFill>
                <a:latin typeface="Cambria"/>
                <a:ea typeface="Cambria"/>
                <a:cs typeface="Cambria"/>
                <a:sym typeface="Cambria"/>
              </a:rPr>
              <a:t>Kako se korisnici štite?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80073" y="1220724"/>
            <a:ext cx="80926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Rešenje zahteva kombinaciju tri sloja — nijedan sam po sebi nije dovoljan.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80073" y="1680210"/>
            <a:ext cx="2647259" cy="2297430"/>
          </a:xfrm>
          <a:prstGeom prst="roundRect">
            <a:avLst>
              <a:gd fmla="val 3582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720109" y="1954530"/>
            <a:ext cx="562371" cy="56235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gavel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949" y="2106366"/>
            <a:ext cx="258684" cy="25868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/>
        </p:nvSpPr>
        <p:spPr>
          <a:xfrm>
            <a:off x="720109" y="2654046"/>
            <a:ext cx="22357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Zakonska regulativa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20109" y="3051810"/>
            <a:ext cx="220147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EU prednjači aktima DSA i DMA, koji ograničavaju obmanjujući dizajn velikih platformi. Smernice traže ravnopravno „prihvati” i „odbij”.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312502" y="1680210"/>
            <a:ext cx="2647259" cy="2297430"/>
          </a:xfrm>
          <a:prstGeom prst="roundRect">
            <a:avLst>
              <a:gd fmla="val 3582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3552539" y="1954530"/>
            <a:ext cx="562371" cy="56235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tools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4379" y="2106366"/>
            <a:ext cx="258684" cy="25868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/>
        </p:nvSpPr>
        <p:spPr>
          <a:xfrm>
            <a:off x="3552539" y="2654046"/>
            <a:ext cx="22357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Tehnička rešenja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552539" y="3051810"/>
            <a:ext cx="220147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Alati i ekstenzije za pregledače analiziraju stranice i upozoravaju na prikrivene troškove, lažnu hitnost i otežano otkazivanje.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144932" y="1680210"/>
            <a:ext cx="2647259" cy="2297430"/>
          </a:xfrm>
          <a:prstGeom prst="roundRect">
            <a:avLst>
              <a:gd fmla="val 3582" name="adj"/>
            </a:avLst>
          </a:prstGeom>
          <a:solidFill>
            <a:srgbClr val="F5F4F9"/>
          </a:solidFill>
          <a:ln>
            <a:noFill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6384968" y="1954530"/>
            <a:ext cx="562371" cy="56235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grad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6808" y="2106366"/>
            <a:ext cx="258684" cy="25868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6384968" y="2654046"/>
            <a:ext cx="22357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Edukacija korisnika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6384968" y="3051810"/>
            <a:ext cx="220147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5596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5596F"/>
                </a:solidFill>
                <a:latin typeface="Calibri"/>
                <a:ea typeface="Calibri"/>
                <a:cs typeface="Calibri"/>
                <a:sym typeface="Calibri"/>
              </a:rPr>
              <a:t>Razvoj digitalne pismenosti i kritičkog mišljenja najtrajnija je zaštita — korisnik koji prepoznaje obrazac teže postaje žrtva.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480073" y="4149090"/>
            <a:ext cx="8181812" cy="425196"/>
          </a:xfrm>
          <a:prstGeom prst="roundRect">
            <a:avLst>
              <a:gd fmla="val 12903" name="adj"/>
            </a:avLst>
          </a:prstGeom>
          <a:solidFill>
            <a:srgbClr val="16172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685818" y="4149090"/>
            <a:ext cx="7818328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Zaključak:  </a:t>
            </a:r>
            <a:r>
              <a:rPr b="0" i="0" lang="en" sz="1100" u="none" cap="none" strike="noStrike">
                <a:solidFill>
                  <a:srgbClr val="E4E5EE"/>
                </a:solidFill>
                <a:latin typeface="Calibri"/>
                <a:ea typeface="Calibri"/>
                <a:cs typeface="Calibri"/>
                <a:sym typeface="Calibri"/>
              </a:rPr>
              <a:t>ni zakoni ni alati ne mogu sami eliminisati problem — ključ je svestan i informisan korisnik.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396AB"/>
                </a:solidFill>
                <a:latin typeface="Calibri"/>
                <a:ea typeface="Calibri"/>
                <a:cs typeface="Calibri"/>
                <a:sym typeface="Calibri"/>
              </a:rPr>
              <a:t>Tamni obrasci u dizajnu korisničkog interfejsa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7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-1234473" y="3154680"/>
            <a:ext cx="3429091" cy="3429000"/>
          </a:xfrm>
          <a:prstGeom prst="ellipse">
            <a:avLst/>
          </a:prstGeom>
          <a:solidFill>
            <a:srgbClr val="F2545B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7681165" y="-1097280"/>
            <a:ext cx="2606109" cy="2606040"/>
          </a:xfrm>
          <a:prstGeom prst="ellipse">
            <a:avLst/>
          </a:prstGeom>
          <a:solidFill>
            <a:srgbClr val="F2545B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651527" y="582930"/>
            <a:ext cx="582946" cy="58293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c_q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923" y="740321"/>
            <a:ext cx="268148" cy="26814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/>
          <p:nvPr/>
        </p:nvSpPr>
        <p:spPr>
          <a:xfrm>
            <a:off x="1371637" y="720090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45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545B"/>
                </a:solidFill>
                <a:latin typeface="Calibri"/>
                <a:ea typeface="Calibri"/>
                <a:cs typeface="Calibri"/>
                <a:sym typeface="Calibri"/>
              </a:rPr>
              <a:t>ZA KRAJ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51527" y="1062990"/>
            <a:ext cx="7544001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mbria"/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Pitanja za diskusiju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51527" y="1885950"/>
            <a:ext cx="425207" cy="425196"/>
          </a:xfrm>
          <a:prstGeom prst="ellipse">
            <a:avLst/>
          </a:prstGeom>
          <a:solidFill>
            <a:srgbClr val="F2545B"/>
          </a:solidFill>
          <a:ln cap="flat" cmpd="sng" w="12700">
            <a:solidFill>
              <a:srgbClr val="F25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651527" y="1885950"/>
            <a:ext cx="425207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1268764" y="1858518"/>
            <a:ext cx="72010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EEF4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Gde je granica između legitimnog ubeđivanja korisnika i prave manipulacije?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651527" y="2462022"/>
            <a:ext cx="425207" cy="425196"/>
          </a:xfrm>
          <a:prstGeom prst="ellipse">
            <a:avLst/>
          </a:prstGeom>
          <a:solidFill>
            <a:srgbClr val="20223C"/>
          </a:solidFill>
          <a:ln cap="flat" cmpd="sng" w="17775">
            <a:solidFill>
              <a:srgbClr val="F25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651527" y="2462022"/>
            <a:ext cx="425207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1268764" y="2434590"/>
            <a:ext cx="72010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EEF4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Snosi li dizajner etičku odgovornost ako samo izvršava zahtev poslodavca?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651527" y="3038094"/>
            <a:ext cx="425207" cy="425196"/>
          </a:xfrm>
          <a:prstGeom prst="ellipse">
            <a:avLst/>
          </a:prstGeom>
          <a:solidFill>
            <a:srgbClr val="F2545B"/>
          </a:solidFill>
          <a:ln cap="flat" cmpd="sng" w="12700">
            <a:solidFill>
              <a:srgbClr val="F25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651527" y="3038094"/>
            <a:ext cx="425207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1268764" y="3010662"/>
            <a:ext cx="72010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EEF4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Mogu li zakoni</a:t>
            </a: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 da prate brzinu </a:t>
            </a: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razvoja AI-personalizovanih obrazaca?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651527" y="3614166"/>
            <a:ext cx="425207" cy="425196"/>
          </a:xfrm>
          <a:prstGeom prst="ellipse">
            <a:avLst/>
          </a:prstGeom>
          <a:solidFill>
            <a:srgbClr val="20223C"/>
          </a:solidFill>
          <a:ln cap="flat" cmpd="sng" w="17775">
            <a:solidFill>
              <a:srgbClr val="F25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651527" y="3614166"/>
            <a:ext cx="425207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1268764" y="3586734"/>
            <a:ext cx="72010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EEF4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Kako konkretno podići digitalnu pismenost starijih građana u Srbiji?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51527" y="4190238"/>
            <a:ext cx="425207" cy="425196"/>
          </a:xfrm>
          <a:prstGeom prst="ellipse">
            <a:avLst/>
          </a:prstGeom>
          <a:solidFill>
            <a:srgbClr val="F2545B"/>
          </a:solidFill>
          <a:ln cap="flat" cmpd="sng" w="12700">
            <a:solidFill>
              <a:srgbClr val="F25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651527" y="4190238"/>
            <a:ext cx="425207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1268764" y="4162806"/>
            <a:ext cx="72010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EEF4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Da li s</a:t>
            </a:r>
            <a:r>
              <a:rPr lang="en" sz="1300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mo i sami naseli</a:t>
            </a:r>
            <a:r>
              <a:rPr b="0" i="0" lang="en" sz="1300" u="none" cap="none" strike="noStrike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 na neki tamni obrazac</a:t>
            </a:r>
            <a:r>
              <a:rPr lang="en" sz="1300">
                <a:solidFill>
                  <a:srgbClr val="EDEEF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651527" y="4766310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96AB"/>
              </a:buClr>
              <a:buSzPts val="1100"/>
              <a:buFont typeface="Cambria"/>
              <a:buNone/>
            </a:pPr>
            <a:r>
              <a:rPr b="0" i="1" lang="en" sz="1100" u="none" cap="none" strike="noStrike">
                <a:solidFill>
                  <a:srgbClr val="9396AB"/>
                </a:solidFill>
                <a:latin typeface="Cambria"/>
                <a:ea typeface="Cambria"/>
                <a:cs typeface="Cambria"/>
                <a:sym typeface="Cambria"/>
              </a:rPr>
              <a:t>Hvala na pažnji.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480073" y="4828032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8476714" y="4841748"/>
            <a:ext cx="82298" cy="82296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7818328" y="4773168"/>
            <a:ext cx="582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7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6172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