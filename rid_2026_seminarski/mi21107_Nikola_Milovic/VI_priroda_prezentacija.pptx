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-365760"/>
            <a:ext cx="2286000" cy="2286000"/>
          </a:xfrm>
          <a:prstGeom prst="ellipse">
            <a:avLst/>
          </a:prstGeom>
          <a:solidFill>
            <a:srgbClr val="97BC62">
              <a:alpha val="7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Računarstvo i društvo  ·  2025/2026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11887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Uticaj veštačke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intelligencije na prirodu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0292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Saveznik ili pretnja?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3611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 Milović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4320" y="4572000"/>
            <a:ext cx="86868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Matematički fakultet, Univerzitet u Beogradu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100584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Šta je veštačka inteligencija?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384048" cy="38404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64592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Pozitivni uticaji na prirodu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22860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Negativni uticaji na prirodu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944368"/>
            <a:ext cx="384048" cy="38404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29260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Primeri iz prakse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584448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356616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Etička razmatranja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4224528"/>
            <a:ext cx="384048" cy="38404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" y="420624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Budući pravci i zaključak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Veštačka inteligencija — kratak pregled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96112"/>
            <a:ext cx="8321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Sposobnost računarskih sistema da obavljaju zadatke koji tipično zahtevaju ljudsku inteligenciju: učenje, rezonovanje, prepoznavanje obrazaca i donošenje odluka.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2011680" cy="28346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938528"/>
            <a:ext cx="822960" cy="822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48256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834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Mašinsko učenje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33375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 koji uče iz podataka bez eksplicitnog programiranja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68880" y="1828800"/>
            <a:ext cx="2011680" cy="28346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63240" y="1938528"/>
            <a:ext cx="822960" cy="82296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048256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0320" y="2834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Duboko učenje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60320" y="33375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Višeslojne neuronske mreže za složene obrasce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617720" y="1828800"/>
            <a:ext cx="2011680" cy="28346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212080" y="1938528"/>
            <a:ext cx="822960" cy="822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2048256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09160" y="2834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Obrada jezika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709160" y="33375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Razumevanje i generisanje prirodnog teksta (NLP)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766560" y="1828800"/>
            <a:ext cx="2011680" cy="28346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360920" y="1938528"/>
            <a:ext cx="822960" cy="82296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2048256"/>
            <a:ext cx="594360" cy="5943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58000" y="2834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Računarska vizija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858000" y="33375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Interpretacija i analiza vizuelnih podataka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Pozitivni uticaji VI na prirodu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1338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789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Praćenje biodiverziteta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57276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BirdNET: 6.000+ vrsta ptica</a:t>
            </a:r>
            <a:endParaRPr lang="en-US" sz="1100" dirty="0"/>
          </a:p>
          <a:p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Forest Watch — krčenje u real-time</a:t>
            </a:r>
            <a:endParaRPr lang="en-US" sz="1100" dirty="0"/>
          </a:p>
          <a:p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PAWS: predviđanje krivolova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91440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051560"/>
            <a:ext cx="566928" cy="56692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1338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0789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Klimatske promene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92040" y="157276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Preciznije klimatske prognoze</a:t>
            </a:r>
            <a:endParaRPr lang="en-US" sz="1100" dirty="0"/>
          </a:p>
          <a:p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DeepMind: -40% energije za hlađenje</a:t>
            </a:r>
            <a:endParaRPr lang="en-US" sz="1100" dirty="0"/>
          </a:p>
          <a:p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Optimizacija vetroelektrana +20%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92608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063240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14553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309067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Pametna poljoprivreda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" y="358444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Navodnjavanje: -50% vode</a:t>
            </a:r>
            <a:endParaRPr lang="en-US" sz="1100" dirty="0"/>
          </a:p>
          <a:p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Pesticidi: -66% (John Deere)</a:t>
            </a:r>
            <a:endParaRPr lang="en-US" sz="1100" dirty="0"/>
          </a:p>
          <a:p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Plantix: 10M+ farmera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292608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3063240"/>
            <a:ext cx="566928" cy="56692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14553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09067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Upravljanje otpadom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92040" y="358444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Sortiranje: 80 predmeta/min</a:t>
            </a:r>
            <a:endParaRPr lang="en-US" sz="1100" dirty="0"/>
          </a:p>
          <a:p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Smanjenje bacanja hrane</a:t>
            </a:r>
            <a:endParaRPr lang="en-US" sz="1100" dirty="0"/>
          </a:p>
          <a:p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Optimizacija reciklaže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 Negativni uticaji VI na prirodu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788920" cy="3977640"/>
          </a:xfrm>
          <a:prstGeom prst="roundRect">
            <a:avLst>
              <a:gd name="adj" fmla="val 3934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52728" y="1024128"/>
            <a:ext cx="804672" cy="80467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161288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9202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Energetska potrošnja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24231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502t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29992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za trening GPT-3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11480" y="3364992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Treniranje = 5 automobila tokom celog veka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Globalni DC: 200-250 TWh/god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Jevons paradox: efikasnost ↑, potrošnja ↑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18688" y="914400"/>
            <a:ext cx="2788920" cy="3977640"/>
          </a:xfrm>
          <a:prstGeom prst="roundRect">
            <a:avLst>
              <a:gd name="adj" fmla="val 3934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97096" y="1024128"/>
            <a:ext cx="804672" cy="804672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161288"/>
            <a:ext cx="530352" cy="5303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19202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Elektronski otpad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10128" y="24231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60Mt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3310128" y="29992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e-otpada godišnje (globalno)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355848" y="3364992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Rudarenje retkih metala (kobalt, litijum)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Brza zastarelost hardvera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Devastacija ekosistema u rudnicima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63056" y="914400"/>
            <a:ext cx="2788920" cy="3977640"/>
          </a:xfrm>
          <a:prstGeom prst="roundRect">
            <a:avLst>
              <a:gd name="adj" fmla="val 3934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41464" y="1024128"/>
            <a:ext cx="804672" cy="804672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1161288"/>
            <a:ext cx="530352" cy="5303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4496" y="19202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Potrošnja vode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254496" y="24231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9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700k L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6254496" y="29992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vode za jedan LLM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300216" y="3364992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Hlađenje serverskih centara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 sušnim regionima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Operativno: 500ml / 20-50 pitanja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Primeri iz prakse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402336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320040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Šta?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Rezultat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+ CAL FIRE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Detekcija šumskih požara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 ranije detekcija 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Allen Coral Atlas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Mapiranje koraljnih grebena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plitkovodnih grebena (348.000 km²)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AI for Earth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Praćenje morskih vrsta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30.000+ kitova identifikovano 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DeepMind + Google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Optimizacija hlađenja DC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-40% energetske potrošnje 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Deere See &amp; Spray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Precizna primena pesticida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-66% herbicida 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Flood Hub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Predviđanje poplava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zemalja, 7 dana unapred 🌊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Etička razmatranja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6128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1033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 kontroliše podatke?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" y="139903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Zemlja Globalnog juga pruža podatke, ali koristi ubire Globalni sever — neravnopravan odnos.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965960"/>
            <a:ext cx="8503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67128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7552" y="20391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Nadzor i privatnost divljači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87552" y="240487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Intenzivno praćenje životinja može poremetiti njihovo prirodno ponašanje.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2971800"/>
            <a:ext cx="8503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172968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7552" y="30449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Autonomne odluke u ekosistemima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87552" y="341071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je odgovoran kada VI sistem pogrešno upravlja ekosistemom?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20040" y="3977640"/>
            <a:ext cx="8503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178808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7552" y="40507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Greenwashing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987552" y="441655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Neke kompanije ističu ekološke primene VI da bi sakrile ogroman ekološki otisak infrastrukture.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Budući pravci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6984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69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33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Zelena VI (Green AI)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399032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Efikasniji algoritmi i neuromorphic computing za drastično smanjenje energetske potrošnje.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47672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20574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0208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Obnovljivi izvori energije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386584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Serverski centri napajani isključivo solarnom i energijom vetra — neki već idu tim putem.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35224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3044952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044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00837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Regulativa i transparentnost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374136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Obavezno izveštavanje o CO₂ otisku VI sistema, slično kao industrijske emisije.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922776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4032504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032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9959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Međunarodna saradnja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361688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Globalni sporazumi o ekološkim standardima za VI — planeta ne poznaje granice.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Praćenje biodiverziteta — u detalje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3977640" cy="502920"/>
          </a:xfrm>
          <a:prstGeom prst="roundRect">
            <a:avLst>
              <a:gd name="adj" fmla="val 1090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🐦  BirdNET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3977640" cy="548640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2763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Razvio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6276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Cornell Lab of Ornithology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231136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3113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Prepoznaje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23113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6.000+ vrsta ptica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834640"/>
            <a:ext cx="3977640" cy="548640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346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Duboko učenje na osnovu zvuka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438144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3814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Pokrivenost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343814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190+ zemalja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041648"/>
            <a:ext cx="3977640" cy="548640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4164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Primena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404164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Praćenje migracija, procena populacija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05840"/>
            <a:ext cx="3977640" cy="502920"/>
          </a:xfrm>
          <a:prstGeom prst="roundRect">
            <a:avLst>
              <a:gd name="adj" fmla="val 10909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00584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🌍  Global Forest Watch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627632"/>
            <a:ext cx="3977640" cy="548640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62763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Organizacija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16276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Resources Institute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231136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23113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Tehnologija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223113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+ satelitski snimci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834640"/>
            <a:ext cx="3977640" cy="548640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8346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Ažuriranje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 48 sata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438144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43814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Detekcija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55080" y="343814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Krčenje šuma u realnom vremenu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4041648"/>
            <a:ext cx="3977640" cy="548640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04164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Uticaj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55080" y="404164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Brža reakcija vlasti i nevladinih org.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 u borbi protiv klimatskih promena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2161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6152" y="10607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DeepMind + Google DC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16152" y="1417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−40%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560320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energije za hlađenje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029968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optimizuje hlađenje serverskih centara u realnom vremenu analizom stotina senzora.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91440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097280"/>
            <a:ext cx="640080" cy="6400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21615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05272" y="10607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Vetroelektrane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605272" y="1417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+20%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6949440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vrednost energije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46320" y="2029968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 unapred predviđa produkciju vetra 36h, čineći wind energy pouzdanijim.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20040" y="297180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315468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27355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16152" y="31181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Flood Hub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216152" y="3474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2560320" y="35661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zemalja pokriveno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57200" y="4087368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Predviđanje poplava 7 dana unapred — upozorenja šalje direktno građanima.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709160" y="297180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846320" y="3154680"/>
            <a:ext cx="640080" cy="6400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273552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05272" y="31181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Klimatski modeli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605272" y="3474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10×</a:t>
            </a:r>
            <a:endParaRPr lang="en-US" sz="2600" dirty="0"/>
          </a:p>
        </p:txBody>
      </p:sp>
      <p:sp>
        <p:nvSpPr>
          <p:cNvPr id="30" name="Text 24"/>
          <p:cNvSpPr/>
          <p:nvPr/>
        </p:nvSpPr>
        <p:spPr>
          <a:xfrm>
            <a:off x="6949440" y="35661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veća preciznost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846320" y="4087368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modeli procesiraju podatke sa miliona senzora i satelita brže od klasičnih metoda.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🌾  Pametna poljoprivreda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8755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E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potrošnje vode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4E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pametno navodnjavanje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18688" y="9144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18688" y="98755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−66%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18688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E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herbicida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18688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4E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Deere See &amp; Spray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17336" y="9144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17336" y="98755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10M+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17336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E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17336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4E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koriste Plantix globalno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230428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Kako funkcioniše precizna VI poljoprivreda?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2761488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05840" y="2852928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9768" y="356616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Senzori mere vlažnost tla, temperaturu i stanje useva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96312" y="2761488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2852928"/>
            <a:ext cx="640080" cy="6400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2112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606040" y="356616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analizira podatke i upoređuje sa vremenskom prognozom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72584" y="2761488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58384" y="2852928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58384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82312" y="356616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automatski dozira vodu, đubrivo ili pesticide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48856" y="2761488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34656" y="2852928"/>
            <a:ext cx="640080" cy="6400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34656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58584" y="356616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uči iz rezultata i poboljšava preporuke naredne sezone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 E-otpad i retki metali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Životni ciklus VI hardvera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02920" cy="50292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⛏️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Rudarenje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8379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Kobalt, litijum, tantal, neodim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7512" y="2075688"/>
            <a:ext cx="164592" cy="3200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377440"/>
            <a:ext cx="502920" cy="50292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331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Proizvodnja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6609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Energetski intenzivna fabrikacija čipova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512" y="2898648"/>
            <a:ext cx="164592" cy="3200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200400"/>
            <a:ext cx="502920" cy="50292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Upotreba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8386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Prosečan vek: 3–5 godina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7512" y="3721608"/>
            <a:ext cx="164592" cy="3200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023360"/>
            <a:ext cx="502920" cy="50292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🗑️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3977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Otpad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430682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miliona tona e-otpada/god globalno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914400"/>
            <a:ext cx="4251960" cy="3931920"/>
          </a:xfrm>
          <a:prstGeom prst="roundRect">
            <a:avLst>
              <a:gd name="adj" fmla="val 2791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00584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Ključne činjenice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150876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50876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60Mt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989320" y="155448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e-otpada godišnje — više od težine Velikog zida Kine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233172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233172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989320" y="237744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retkih metala potrebno za jedan AI čip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15468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15468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~3god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989320" y="320040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prosečan vek GPU kartice pre zamene novijom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397764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397764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Congo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989320" y="402336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svetskog kobalta — rudarenje pod teškim uslovima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Jevons paradoks — efikasnost koja povećava potrošnju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1005840"/>
          </a:xfrm>
          <a:prstGeom prst="roundRect">
            <a:avLst>
              <a:gd name="adj" fmla="val 909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82296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"Povećanje efikasnosti korišćenja resursa paradoksalno dovodi do povećanja ukupne potrošnje tog resursa."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0" y="1755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William Stanley Jevons, 1865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2176272"/>
            <a:ext cx="274320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226771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🚗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Efikasniji automobili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32918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D4EDAA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Uzrok: Manji troškovi po km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858768"/>
            <a:ext cx="2560320" cy="804672"/>
          </a:xfrm>
          <a:prstGeom prst="roundRect">
            <a:avLst>
              <a:gd name="adj" fmla="val 6818"/>
            </a:avLst>
          </a:prstGeom>
          <a:solidFill>
            <a:srgbClr val="FFE8E8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877056"/>
            <a:ext cx="24688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Efekat: Ljudi više voze → ukupno više goriva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18688" y="2176272"/>
            <a:ext cx="274320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18688" y="226771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✈️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10128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Jeftiniji letovi (VI cene)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310128" y="32918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D4EDAA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3291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Uzrok: VI optimizuje popunjenost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10128" y="3858768"/>
            <a:ext cx="2560320" cy="804672"/>
          </a:xfrm>
          <a:prstGeom prst="roundRect">
            <a:avLst>
              <a:gd name="adj" fmla="val 6818"/>
            </a:avLst>
          </a:prstGeom>
          <a:solidFill>
            <a:srgbClr val="FFE8E8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3877056"/>
            <a:ext cx="24688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Efekat: Više putnika, više letova → više emisija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17336" y="2176272"/>
            <a:ext cx="274320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17336" y="226771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08776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Efikasniji VI modeli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08776" y="32918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D4EDAA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3291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Uzrok: Manji modeli, brži trening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08776" y="3858768"/>
            <a:ext cx="2560320" cy="804672"/>
          </a:xfrm>
          <a:prstGeom prst="roundRect">
            <a:avLst>
              <a:gd name="adj" fmla="val 6818"/>
            </a:avLst>
          </a:prstGeom>
          <a:solidFill>
            <a:srgbClr val="FFE8E8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3877056"/>
            <a:ext cx="24688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Efekat: Više primena, više upita → ukupno više energije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 vs. tradiconalne metode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103120" cy="475488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9144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Oblast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23160" y="914400"/>
            <a:ext cx="3017520" cy="47548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96312" y="9144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Tradicionalno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40680" y="914400"/>
            <a:ext cx="301752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13832" y="9144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 VI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2103120" cy="576072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389888"/>
            <a:ext cx="2011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šuma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1389888"/>
            <a:ext cx="3017520" cy="576072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389888"/>
            <a:ext cx="2926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Terenski obilasci (meseci)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0680" y="1389888"/>
            <a:ext cx="3017520" cy="576072"/>
          </a:xfrm>
          <a:prstGeom prst="rect">
            <a:avLst/>
          </a:prstGeom>
          <a:solidFill>
            <a:srgbClr val="EBF5E1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13832" y="1389888"/>
            <a:ext cx="2926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Sateliti + VI (48h) 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984248"/>
            <a:ext cx="21031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1984248"/>
            <a:ext cx="2011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Identifikacija vrsta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23160" y="1984248"/>
            <a:ext cx="30175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96312" y="1984248"/>
            <a:ext cx="2926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Ekspert na terenu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1984248"/>
            <a:ext cx="3017520" cy="576072"/>
          </a:xfrm>
          <a:prstGeom prst="rect">
            <a:avLst/>
          </a:prstGeom>
          <a:solidFill>
            <a:srgbClr val="F5FBEE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1984248"/>
            <a:ext cx="2926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BirdNET automatski 🐦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578608"/>
            <a:ext cx="2103120" cy="576072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578608"/>
            <a:ext cx="2011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Navodnjavanje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23160" y="2578608"/>
            <a:ext cx="3017520" cy="576072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96312" y="2578608"/>
            <a:ext cx="2926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Fiksni raspored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40680" y="2578608"/>
            <a:ext cx="3017520" cy="576072"/>
          </a:xfrm>
          <a:prstGeom prst="rect">
            <a:avLst/>
          </a:prstGeom>
          <a:solidFill>
            <a:srgbClr val="EBF5E1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13832" y="2578608"/>
            <a:ext cx="2926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Senzori + VI (−50% vode) 💧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172968"/>
            <a:ext cx="21031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3172968"/>
            <a:ext cx="2011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Prognoza poplava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23160" y="3172968"/>
            <a:ext cx="30175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96312" y="3172968"/>
            <a:ext cx="2926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dana unapred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40680" y="3172968"/>
            <a:ext cx="3017520" cy="576072"/>
          </a:xfrm>
          <a:prstGeom prst="rect">
            <a:avLst/>
          </a:prstGeom>
          <a:solidFill>
            <a:srgbClr val="F5FBEE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13832" y="3172968"/>
            <a:ext cx="2926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dana unapred (80 zem.) 🌊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3767328"/>
            <a:ext cx="2103120" cy="576072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3767328"/>
            <a:ext cx="2011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Sortiranje otpada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423160" y="3767328"/>
            <a:ext cx="3017520" cy="576072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96312" y="3767328"/>
            <a:ext cx="2926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kom/min (čovek)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40680" y="3767328"/>
            <a:ext cx="3017520" cy="576072"/>
          </a:xfrm>
          <a:prstGeom prst="rect">
            <a:avLst/>
          </a:prstGeom>
          <a:solidFill>
            <a:srgbClr val="EBF5E1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3767328"/>
            <a:ext cx="2926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kom/min (robot) ♻️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4361688"/>
            <a:ext cx="21031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4361688"/>
            <a:ext cx="2011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Klimatski modeli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423160" y="4361688"/>
            <a:ext cx="30175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96312" y="4361688"/>
            <a:ext cx="2926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Superračunari, meseci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40680" y="4361688"/>
            <a:ext cx="3017520" cy="576072"/>
          </a:xfrm>
          <a:prstGeom prst="rect">
            <a:avLst/>
          </a:prstGeom>
          <a:solidFill>
            <a:srgbClr val="F5FBEE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13832" y="4361688"/>
            <a:ext cx="2926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VI, dani, veća preciznost 🌡️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Etika u primeni VI — Ko kontroliše podatke?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463040"/>
          </a:xfrm>
          <a:prstGeom prst="roundRect">
            <a:avLst>
              <a:gd name="adj" fmla="val 75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24128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98755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 poseduje podatke o prirodi?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737360" y="15087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E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Zemlja Globalnog juga pruža podatke o biodiverzitetu, a kompanije i institucije Globalnog severa ih analiziraju i komercijalizuju.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" y="25146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663440" y="25146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Moguće rešenje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0040" y="2926080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017520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Neravnopravan pristup koristi od podataka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3584448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Lokalne zajednice ne učestvuju u odlukama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4151376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Privatni podaci o ekosistemima bez saglasnosti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63440" y="2926080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F0F8E8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3017520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Modeli pravične podele prihoda (ABS sporazumi)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800600" y="3584448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Uključivanje lokalnih zajednica u projekte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800600" y="4151376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Open-source VI alati za biodiverzitet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Etika — Greenwashing u VI industriji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 Greenwashing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07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Marketinška praksa u kojoj kompanije preuveličavaju ekološke benefite svojih proizvoda kako bi prikrile negativne uticaje.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kompanije kažu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9202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podaci govore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4160520" cy="2514600"/>
          </a:xfrm>
          <a:prstGeom prst="roundRect">
            <a:avLst>
              <a:gd name="adj" fmla="val 3636"/>
            </a:avLst>
          </a:prstGeom>
          <a:solidFill>
            <a:srgbClr val="F0F8E8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331720"/>
            <a:ext cx="4160520" cy="2514600"/>
          </a:xfrm>
          <a:prstGeom prst="roundRect">
            <a:avLst>
              <a:gd name="adj" fmla="val 3636"/>
            </a:avLst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"Naš VI model štiti biodiverzitet"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17296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"Trudimo se ka carbon-neutral ciljevima"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922776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"VI pomaže planeti više nego što šteti"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0600" y="242316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Isti model troši energiju kao 5 automobila godišnje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0600" y="317296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Serverski centri i dalje rade uglavnom na fosilnim gorivima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3922776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Nema objektivnih studija koje to potvrđuju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— put ka Zelenoj veštačkoj inteligenciji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832104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688336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1691640"/>
            <a:ext cx="54864" cy="10241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868680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161288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Strubell objavljuje studiju o CO₂ otisku NLP modela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50008" y="2688336"/>
            <a:ext cx="256032" cy="25603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2944368"/>
            <a:ext cx="54864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92808" y="3858768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92808" y="38587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4151376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 postiže −40% energije hlađenja u Google DC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39896" y="2688336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1691640"/>
            <a:ext cx="54864" cy="10241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82696" y="868680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82696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10128" y="1161288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IPCC preporučuje VI kao alat za klimatske ciljeve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29784" y="2688336"/>
            <a:ext cx="256032" cy="25603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30368" y="2944368"/>
            <a:ext cx="54864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72584" y="3858768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72584" y="38587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0016" y="4151376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uključuje zahteve za ekološku transparentnost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519672" y="2688336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20256" y="1691640"/>
            <a:ext cx="54864" cy="10241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62472" y="868680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62472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89904" y="1161288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Prva generacija 'Green AI' modela — 10× manja potrošnja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909560" y="2688336"/>
            <a:ext cx="256032" cy="25603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10144" y="2944368"/>
            <a:ext cx="54864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52360" y="3858768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52360" y="38587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79792" y="4151376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Cilj: carbon-neutral serverski centri (Google, Microsoft)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97BC62">
              <a:alpha val="5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Zaključak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0584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 ima ogroman potencijal da postane jedan od najmoćnijih alata u borbi za zaštitu prirode — ali dolazi sa sopstvenim ekološkim cehom koji ne sme biti ignorisan.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957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🌱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29077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4E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može biti moćan saveznik prirode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55848" y="23317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23957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47288" y="29077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4E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Ekološki trošak mora biti adresian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54496" y="23317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23957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45936" y="29077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4E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Rešenje: odgovoran i svestan razvoj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Planeta ne može čekati.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572000"/>
            <a:ext cx="86868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Matematički fakultet, Univerzitet u Beogradu  ·  RID 2025/2026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97BC62">
              <a:alpha val="60000"/>
            </a:srgbClr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91440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Hvala na pažnji!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Pitanja?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572000"/>
            <a:ext cx="86868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Uticaj veštačke inteligencije na prirodu  ·  RID 2025/2026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Uticaj vestacke inteligencije na prirodu</dc:title>
  <dc:subject>PptxGenJS Presentation</dc:subject>
  <dc:creator>Student RID 2025/2026</dc:creator>
  <cp:lastModifiedBy>Student RID 2025/2026</cp:lastModifiedBy>
  <cp:revision>1</cp:revision>
  <dcterms:created xsi:type="dcterms:W3CDTF">2026-06-19T11:56:41Z</dcterms:created>
  <dcterms:modified xsi:type="dcterms:W3CDTF">2026-06-19T11:56:41Z</dcterms:modified>
</cp:coreProperties>
</file>