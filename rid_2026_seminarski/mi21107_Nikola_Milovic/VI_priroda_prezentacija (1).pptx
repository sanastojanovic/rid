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4" r:id="rId8"/>
    <p:sldId id="265" r:id="rId9"/>
    <p:sldId id="266" r:id="rId10"/>
    <p:sldId id="260" r:id="rId11"/>
    <p:sldId id="267" r:id="rId12"/>
    <p:sldId id="268" r:id="rId13"/>
    <p:sldId id="261" r:id="rId14"/>
    <p:sldId id="262" r:id="rId15"/>
    <p:sldId id="270" r:id="rId16"/>
    <p:sldId id="271" r:id="rId17"/>
    <p:sldId id="263" r:id="rId18"/>
    <p:sldId id="269" r:id="rId19"/>
    <p:sldId id="272" r:id="rId20"/>
    <p:sldId id="273" r:id="rId21"/>
    <p:sldId id="275" r:id="rId22"/>
    <p:sldId id="274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-365760"/>
            <a:ext cx="2286000" cy="2286000"/>
          </a:xfrm>
          <a:prstGeom prst="ellipse">
            <a:avLst/>
          </a:prstGeom>
          <a:solidFill>
            <a:srgbClr val="97BC62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Računarstvo i društvo  ·  2025/2026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8229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Uticaj veštačke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intelligencije na prirodu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02920" y="31089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Saveznik ili pretnja?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Nikola Milović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4572000"/>
            <a:ext cx="8686800" cy="571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Matematički fakultet, Univerzitet u Beogradu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005840"/>
            <a:ext cx="7772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Šta je veštačka inteligencija?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4367" y="1645920"/>
            <a:ext cx="7772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Pozitivni uticaji na prirodu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04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286000"/>
            <a:ext cx="7772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Negativni uticaji na prirodu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443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926080"/>
            <a:ext cx="7772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Primeri iz prakse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84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566160"/>
            <a:ext cx="7772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Etička razmatranja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24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206240"/>
            <a:ext cx="7772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Budući pravci i zaključak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Veštačka inteligencija — kratak pregled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832104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Sposobnost računarskih sistema da obavljaju zadatke koji tipično zahtevaju ljudsku inteligenciju: učenje, rezonovanje, prepoznavanje obrazaca i donošenje odluka.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38528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48256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346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Mašinsko učenje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333756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Algoritmi koji uče iz podataka bez eksplicitnog programiranja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0625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63240" y="1938528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048256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8346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Duboko učenje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333756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Višeslojne neuronske mreže za složene obrasce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1772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12080" y="1938528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048256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8346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Obrada jezika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09160" y="333756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Razumevanje i generisanje prirodnog teksta (NLP)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66560" y="1828800"/>
            <a:ext cx="2011680" cy="28346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60920" y="1938528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048256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283464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Računarska vizija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58000" y="333756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Interpretacija i analiza vizuelnih podataka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✅  Pozitivni uticaji VI na prirodu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33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7899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Praćenje biodiverziteta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72768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BirdNET: 6.000+ vrsta ptica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Forest Watch — krčenje u real-time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PAWS: predviđanje krivolova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51560"/>
            <a:ext cx="566928" cy="56692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133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07899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Klimatske promene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572768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Preciznije klimatske prognoze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DeepMind: -40% energije za hlađenje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Optimizacija vetroelektrana +20%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9260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63240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1455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Pametna poljoprivreda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3584448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Navodnjavanje: -50% vode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Pesticidi: -66% (John Deere)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Plantix: 10M+ farmera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063240"/>
            <a:ext cx="566928" cy="56692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455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Upravljanje otpadom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584448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Sortiranje: 80 predmeta/min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Smanjenje bacanja hrane</a:t>
            </a:r>
            <a:endParaRPr lang="en-US" sz="1100" dirty="0"/>
          </a:p>
          <a:p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Optimizacija reciklaže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Praćenje biodiverziteta — u detalje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🐦  BirdNET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Razvio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Cornell Lab of Ornithology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31136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Prepoznaje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231136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6.000+ vrsta ptica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83464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Duboko učenje na osnovu zvuka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38144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Pokrivenost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438144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190+ zemalja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041648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Primena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041648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Praćenje migracija, procena populacija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05840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🌍  Global Forest Watch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627632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Organizacija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1627632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World Resources Institute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23113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31136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Tehnologija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231136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 + satelitski snimci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34640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Ažuriranje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83464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Svaka 48 sata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38144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438144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Detekcija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438144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Krčenje šuma u realnom vremenu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041648"/>
            <a:ext cx="3977640" cy="548640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041648"/>
            <a:ext cx="1463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Uticaj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4041648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Brža reakcija vlasti i nevladinih org.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 u borbi protiv klimatskih promena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16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06070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DeepMind + Google DC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16152" y="14173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−40%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560320" y="15087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energije za hlađenje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3886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 optimizuje hlađenje serverskih centara u realnom vremenu analizom stotina senzora.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972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2161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05272" y="106070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Vetroelektrane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05272" y="14173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+20%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949440" y="15087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vrednost energije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2029968"/>
            <a:ext cx="3886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DeepMind unapred predviđa produkciju vetra 36h, čineći wind energy pouzdanijim.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2971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1546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27355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6152" y="311810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Google Flood Hub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216152" y="34747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2560320" y="35661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zemalja pokriveno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4087368"/>
            <a:ext cx="3886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Predviđanje poplava 7 dana unapred — upozorenja šalje direktno građanima.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09160" y="2971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7355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05272" y="3118104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Klimatski modeli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05272" y="34747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10×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6949440" y="356616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veća preciznost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46320" y="4087368"/>
            <a:ext cx="3886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 modeli procesiraju podatke sa miliona senzora i satelita brže od klasičnih metoda.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🌾  Pametna poljoprivreda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−50%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potrošnje vode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pametno navodnjavanje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9144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987552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−66%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18688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herbicida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8688" y="18288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John Deere See &amp; Spray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7336" y="9144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17336" y="987552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10M+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17336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7336" y="18288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koriste Plantix globalno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304288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Kako funkcioniše precizna VI poljoprivreda?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2852928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529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" y="3566160"/>
            <a:ext cx="1792224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Senzori mere vlažnost tla, temperaturu i stanje useva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96312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852928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28529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606040" y="3566160"/>
            <a:ext cx="1792224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 analizira podatke i upoređuje sa vremenskom prognozom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2584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58384" y="2852928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28529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82312" y="3566160"/>
            <a:ext cx="1792224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 automatski dozira vodu, đubrivo ili pesticide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48856" y="2761488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34656" y="2852928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34656" y="28529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58584" y="3566160"/>
            <a:ext cx="1792224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uči iz rezultata i poboljšava preporuke naredne sezone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⚠️  Negativni uticaji VI na prirodu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52728" y="1024128"/>
            <a:ext cx="804672" cy="80467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161288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Energetska potrošnja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4231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502t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2999232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CO₂ za trening GPT-3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3364992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Treniranje = 5 automobila tokom celog veka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Globalni DC: 200-250 TWh/god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Jevons paradox: efikasnost ↑, potrošnja ↑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18688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97096" y="1024128"/>
            <a:ext cx="804672" cy="804672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161288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202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Elektronski otpad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10128" y="24231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60Mt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310128" y="2999232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e-otpada godišnje (globalno)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55848" y="3364992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Rudarenje retkih metala (kobalt, litijum)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Brza zastarelost hardvera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Devastacija ekosistema u rudnicima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63056" y="914400"/>
            <a:ext cx="2788920" cy="3977640"/>
          </a:xfrm>
          <a:prstGeom prst="roundRect">
            <a:avLst>
              <a:gd name="adj" fmla="val 39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41464" y="1024128"/>
            <a:ext cx="804672" cy="80467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161288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1920240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Potrošnja vode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54496" y="24231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9BD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700k L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254496" y="2999232"/>
            <a:ext cx="2606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vode za jedan LLM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00216" y="3364992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Hlađenje serverskih centara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u sušnim regionima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Operativno: 500ml / 20-50 pitanja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⚠️  E-otpad i retki metali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Životni ciklus VI hardvera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⛏️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Rudarenje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837944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Kobalt, litijum, tantal, neodim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" y="2075688"/>
            <a:ext cx="164592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7744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317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Proizvodnja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660904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Energetski intenzivna fabrikacija čipova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2898648"/>
            <a:ext cx="164592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Upotreba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83864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Prosečan vek: 3–5 godina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" y="3721608"/>
            <a:ext cx="164592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🗑️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9776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Otpad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306824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miliona tona e-otpada/god globalno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914400"/>
            <a:ext cx="4251960" cy="3931920"/>
          </a:xfrm>
          <a:prstGeom prst="roundRect">
            <a:avLst>
              <a:gd name="adj" fmla="val 2791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05840"/>
            <a:ext cx="4069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Ključne činjenice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50876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08760"/>
            <a:ext cx="11887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60Mt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89320" y="1554480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e-otpada godišnje — više od težine Velikog zida Kine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3317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331720"/>
            <a:ext cx="11887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989320" y="2377440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retkih metala potrebno za jedan AI čip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15468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154680"/>
            <a:ext cx="11887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~3god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89320" y="3200400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prosečan vek GPU kartice pre zamene novijom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9776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977640"/>
            <a:ext cx="11887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Congo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989320" y="4023360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 svetskog kobalta — rudarenje pod teškim uslovima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Jevons paradoks — efikasnost koja povećava potrošnju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9692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"Povećanje efikasnosti korišćenja resursa paradoksalno dovodi do povećanja ukupne potrošnje tog resursa."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0" y="175564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William Stanley Jevons, 1865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176272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267712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Efikasniji automobili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EDAA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Uzrok: Manji troškovi po km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858768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77056"/>
            <a:ext cx="246888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Efekat: Ljudi više voze → ukupno više goriva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2176272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18688" y="2267712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✈️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0128" y="283464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Jeftiniji letovi (VI cene)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EDAA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32918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Uzrok: VI optimizuje popunjenost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858768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3877056"/>
            <a:ext cx="246888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Efekat: Više putnika, više letova → više emisija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17336" y="2176272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17336" y="2267712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08776" y="283464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Efikasniji VI modeli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08776" y="3291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D4EDAA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2918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Uzrok: Manji modeli, brži trening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3858768"/>
            <a:ext cx="2560320" cy="804672"/>
          </a:xfrm>
          <a:prstGeom prst="roundRect">
            <a:avLst>
              <a:gd name="adj" fmla="val 6818"/>
            </a:avLst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877056"/>
            <a:ext cx="2468880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Efekat: Više primena, više upita → ukupno više energije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Primeri iz prakse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914400"/>
          <a:ext cx="8503920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200400"/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Ko?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Šta?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Rezultat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Google + CAL FIRE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Detekcija šumskih požara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 min ranije detekcija 🔥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Allen Coral Atlas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Mapiranje koraljnih grebena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plitkovodnih grebena (348.000 km²)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Microsoft AI for Earth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Praćenje morskih vrsta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30.000+ kitova identifikovano 🐋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DeepMind + Google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Optimizacija hlađenja DC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-40% energetske potrošnje ⚡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John Deere See &amp; Spray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Precizna primena pesticida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-66% herbicida 🌾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Google Flood Hub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Predviđanje poplava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A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 zemalja, 7 dana unapred 🌊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Etička razmatranja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03327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Ko kontroliše podatke?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" y="1399032"/>
            <a:ext cx="77266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Zemlja Globalnog juga pruža podatke, ali koristi ubire Globalni sever — neravnopravan odnos.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96596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16712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03911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Nadzor i privatnost divljači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87552" y="2404872"/>
            <a:ext cx="77266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Intenzivno praćenje životinja može poremetiti njihovo prirodno ponašanje.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97180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7296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304495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Autonomne odluke u ekosistemima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87552" y="3410712"/>
            <a:ext cx="77266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 je odgovoran kada VI sistem pogrešno upravlja ekosistemom?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3977640"/>
            <a:ext cx="8503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417880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405079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Greenwashing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87552" y="4416552"/>
            <a:ext cx="7726680" cy="384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Neke kompanije ističu ekološke primene VI da bi sakrile ogroman ekološki otisak infrastrukture.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Etika u primeni VI — Ko kontroliše podatke?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46304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987552"/>
            <a:ext cx="6858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Ko poseduje podatke o prirodi?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37360" y="1508760"/>
            <a:ext cx="68580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Zemlja Globalnog juga pruža podatke o biodiverzitetu, a kompanije i institucije Globalnog severa ih analiziraju i komercijalizuju.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51460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33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51460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Moguće rešenje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29260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017520"/>
            <a:ext cx="3886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Neravnopravan pristup koristi od podataka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3584448"/>
            <a:ext cx="3886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Lokalne zajednice ne učestvuju u odlukama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151376"/>
            <a:ext cx="3886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Privatni podaci o ekosistemima bez saglasnosti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29260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0F8E8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3017520"/>
            <a:ext cx="3886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Modeli pravične podele prihoda (ABS sporazumi)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00600" y="3584448"/>
            <a:ext cx="3886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Uključivanje lokalnih zajednica u projekte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00600" y="4151376"/>
            <a:ext cx="38862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Open-source VI alati za biodiverzitet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Etika — Greenwashing u VI industriji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⚠️  Greenwashing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6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Marketinška praksa u kojoj kompanije preuveličavaju ekološke benefite svojih proizvoda kako bi prikrile negativne uticaje.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Šta kompanije kažu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33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Šta podaci govore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160520" cy="2514600"/>
          </a:xfrm>
          <a:prstGeom prst="roundRect">
            <a:avLst>
              <a:gd name="adj" fmla="val 3636"/>
            </a:avLst>
          </a:prstGeom>
          <a:solidFill>
            <a:srgbClr val="F0F8E8"/>
          </a:solidFill>
          <a:ln w="12700">
            <a:solidFill>
              <a:srgbClr val="D4EDA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160520" cy="2514600"/>
          </a:xfrm>
          <a:prstGeom prst="roundRect">
            <a:avLst>
              <a:gd name="adj" fmla="val 3636"/>
            </a:avLst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"Naš VI model štiti biodiverzitet"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72968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"Trudimo se ka carbon-neutral ciljevima"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92277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"VI pomaže planeti više nego što šteti"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423160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Isti model troši energiju kao 5 automobila godišnje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3172968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Serverski centri i dalje rade uglavnom na fosilnim gorivima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392277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9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Nema objektivnih studija koje to potvrđuju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Budući pravci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698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98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Zelena VI (Green AI)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635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Efikasniji algoritmi i neuromorphic computing za drastično smanjenje energetske potrošnje.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0574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20824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Obnovljivi izvori energije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86584"/>
            <a:ext cx="7635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Serverski centri napajani isključivo solarnom i energijom vetra — neki već idu tim putem.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3522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04495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449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008376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Regulativa i transparentnost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74136"/>
            <a:ext cx="7635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Obavezno izveštavanje o CO₂ otisku VI sistema, slično kao industrijske emisije.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22776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403250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325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995928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Međunarodna saradnja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361688"/>
            <a:ext cx="7635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Globalni sporazumi o ekološkim standardima za VI — planeta ne poznaje granice.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 vs. tradiconalne metode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103120" cy="475488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914400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Oblast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914400"/>
            <a:ext cx="3017520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914400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Tradicionalno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914400"/>
            <a:ext cx="301752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914400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 VI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1031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89888"/>
            <a:ext cx="20116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šuma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389888"/>
            <a:ext cx="30175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38988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Terenski obilasci (meseci)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1389888"/>
            <a:ext cx="3017520" cy="576072"/>
          </a:xfrm>
          <a:prstGeom prst="rect">
            <a:avLst/>
          </a:prstGeom>
          <a:solidFill>
            <a:srgbClr val="EBF5E1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38988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Sateliti + VI (48h) 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98424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984248"/>
            <a:ext cx="20116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Identifikacija vrsta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1984248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98424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Ekspert na terenu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1984248"/>
            <a:ext cx="3017520" cy="576072"/>
          </a:xfrm>
          <a:prstGeom prst="rect">
            <a:avLst/>
          </a:prstGeom>
          <a:solidFill>
            <a:srgbClr val="F5FBEE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198424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BirdNET automatski 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21031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578608"/>
            <a:ext cx="20116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Navodnjavanje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578608"/>
            <a:ext cx="30175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257860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Fiksni raspored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2578608"/>
            <a:ext cx="3017520" cy="576072"/>
          </a:xfrm>
          <a:prstGeom prst="rect">
            <a:avLst/>
          </a:prstGeom>
          <a:solidFill>
            <a:srgbClr val="EBF5E1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257860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Senzori + VI (−50% vode) 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17296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172968"/>
            <a:ext cx="20116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Prognoza poplava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23160" y="3172968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317296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1–2 dana unapred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3172968"/>
            <a:ext cx="3017520" cy="576072"/>
          </a:xfrm>
          <a:prstGeom prst="rect">
            <a:avLst/>
          </a:prstGeom>
          <a:solidFill>
            <a:srgbClr val="F5FBEE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3832" y="317296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dana unapred (80 zem.) 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21031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767328"/>
            <a:ext cx="20116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Sortiranje otpada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23160" y="3767328"/>
            <a:ext cx="3017520" cy="576072"/>
          </a:xfrm>
          <a:prstGeom prst="rect">
            <a:avLst/>
          </a:prstGeom>
          <a:solidFill>
            <a:srgbClr val="F7F9F2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76732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~30 kom/min (čovek)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0680" y="3767328"/>
            <a:ext cx="3017520" cy="576072"/>
          </a:xfrm>
          <a:prstGeom prst="rect">
            <a:avLst/>
          </a:prstGeom>
          <a:solidFill>
            <a:srgbClr val="EBF5E1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376732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~80 kom/min (robot) ♻️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36168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4361688"/>
            <a:ext cx="20116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Klimatski modeli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23160" y="4361688"/>
            <a:ext cx="30175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436168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Superračunari, meseci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40680" y="4361688"/>
            <a:ext cx="3017520" cy="576072"/>
          </a:xfrm>
          <a:prstGeom prst="rect">
            <a:avLst/>
          </a:prstGeom>
          <a:solidFill>
            <a:srgbClr val="F5FBEE"/>
          </a:solidFill>
          <a:ln w="12700">
            <a:solidFill>
              <a:srgbClr val="D4ED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13832" y="4361688"/>
            <a:ext cx="2926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VI, dani, veća preciznost 🌡️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A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Timeline — put ka Zelenoj veštačkoj inteligenciji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32104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8833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1691640"/>
            <a:ext cx="54864" cy="10241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86868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86868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161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Strubell objavljuje studiju o CO₂ otisku NLP modela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0008" y="2688336"/>
            <a:ext cx="256032" cy="25603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2944368"/>
            <a:ext cx="54864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3858768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92808" y="38587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2021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4151376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DeepMind postiže −40% energije hlađenja u Google DC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9896" y="268833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691640"/>
            <a:ext cx="54864" cy="10241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82696" y="86868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82696" y="86868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2022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161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IPCC preporučuje VI kao alat za klimatske ciljeve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9784" y="2688336"/>
            <a:ext cx="256032" cy="25603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2944368"/>
            <a:ext cx="54864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3858768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72584" y="38587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2023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4151376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 AI Act uključuje zahteve za ekološku transparentnost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19672" y="2688336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0256" y="1691640"/>
            <a:ext cx="54864" cy="10241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62472" y="86868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62472" y="86868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2025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9904" y="1161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Prva generacija 'Green AI' modela — 10× manja potrošnja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09560" y="2688336"/>
            <a:ext cx="256032" cy="25603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2944368"/>
            <a:ext cx="54864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3858768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52360" y="38587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2030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79792" y="4151376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Cilj: carbon-neutral serverski centri (Google, Microsoft)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97BC62">
              <a:alpha val="5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Zaključak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 ima ogroman potencijal da postane jedan od najmoćnijih alata u borbi za zaštitu prirode — ali dolazi sa sopstvenim ekološkim cehom koji ne sme biti ignorisan.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95728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 može biti moćan saveznik prirode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23317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2395728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47288" y="2907792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Ekološki trošak mora biti adresian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23317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395728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45936" y="2907792"/>
            <a:ext cx="2560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Rešenje: odgovoran i svestan razvoj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Planeta ne može čekati.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72000"/>
            <a:ext cx="8686800" cy="571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Matematički fakultet, Univerzitet u Beogradu  ·  RID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130300" y="1687830"/>
            <a:ext cx="5158740" cy="2596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20000"/>
                    <a:lumOff val="8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1. Jevons paradoks u eri VI </a:t>
            </a:r>
            <a:endParaRPr lang="en-US" altLang="en-US" sz="2400">
              <a:solidFill>
                <a:schemeClr val="accent3">
                  <a:lumMod val="20000"/>
                  <a:lumOff val="8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  <a:p>
            <a:r>
              <a:rPr lang="en-US" altLang="en-US" sz="2400">
                <a:solidFill>
                  <a:schemeClr val="accent3">
                    <a:lumMod val="20000"/>
                    <a:lumOff val="8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2. Greenwashing ili stvarna promena?</a:t>
            </a:r>
            <a:endParaRPr lang="en-US" altLang="en-US" sz="2400">
              <a:solidFill>
                <a:schemeClr val="accent3">
                  <a:lumMod val="20000"/>
                  <a:lumOff val="8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  <a:p>
            <a:r>
              <a:rPr lang="en-US" altLang="en-US" sz="2400">
                <a:solidFill>
                  <a:schemeClr val="accent3">
                    <a:lumMod val="20000"/>
                    <a:lumOff val="8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3. Gde je granica izme</a:t>
            </a:r>
            <a:r>
              <a:rPr lang="" altLang="en-US" sz="2400">
                <a:solidFill>
                  <a:schemeClr val="accent3">
                    <a:lumMod val="20000"/>
                    <a:lumOff val="8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đ</a:t>
            </a:r>
            <a:r>
              <a:rPr lang="en-US" altLang="en-US" sz="2400">
                <a:solidFill>
                  <a:schemeClr val="accent3">
                    <a:lumMod val="20000"/>
                    <a:lumOff val="8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u monitoringa i invazije? </a:t>
            </a:r>
            <a:endParaRPr lang="en-US" altLang="en-US" sz="2400">
              <a:solidFill>
                <a:schemeClr val="accent3">
                  <a:lumMod val="20000"/>
                  <a:lumOff val="8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  <a:p>
            <a:r>
              <a:rPr lang="en-US" altLang="en-US" sz="2400">
                <a:solidFill>
                  <a:schemeClr val="accent3">
                    <a:lumMod val="20000"/>
                    <a:lumOff val="8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</a:rPr>
              <a:t>4. Ko ima korist, a ko snosi teret?</a:t>
            </a:r>
            <a:endParaRPr lang="en-US" altLang="en-US" sz="2400">
              <a:solidFill>
                <a:schemeClr val="accent3">
                  <a:lumMod val="20000"/>
                  <a:lumOff val="8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30300" y="207645"/>
            <a:ext cx="67494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sz="72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Teme za diskusiju</a:t>
            </a:r>
            <a:endParaRPr lang="en-US" sz="72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97BC62">
              <a:alpha val="60000"/>
            </a:srgbClr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Hvala na pažnji!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Pitanja?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572000"/>
            <a:ext cx="8686800" cy="571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Uticaj veštačke inteligencije na prirodu  ·  RID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7670</Words>
  <Application>WPS Presentation</Application>
  <PresentationFormat>On-screen Show (16:9)</PresentationFormat>
  <Paragraphs>544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AcadEref</vt:lpstr>
      <vt:lpstr>Algerian</vt:lpstr>
      <vt:lpstr>Artifakt Element Hair</vt:lpstr>
      <vt:lpstr>Bahnschrift</vt:lpstr>
      <vt:lpstr>Bahnschrift Light SemiCondensed</vt:lpstr>
      <vt:lpstr>Bahnschrift SemiLight</vt:lpstr>
      <vt:lpstr>Bauhaus 93</vt:lpstr>
      <vt:lpstr>Book Antiqua</vt:lpstr>
      <vt:lpstr>Brush Script MT</vt:lpstr>
      <vt:lpstr>Calisto MT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Uticaj vestacke inteligencije na prirodu</dc:title>
  <dc:creator>Student RID 2025/2026</dc:creator>
  <dc:subject>PptxGenJS Presentation</dc:subject>
  <cp:lastModifiedBy>Nikola Milovic</cp:lastModifiedBy>
  <cp:revision>3</cp:revision>
  <dcterms:created xsi:type="dcterms:W3CDTF">2026-06-19T11:56:00Z</dcterms:created>
  <dcterms:modified xsi:type="dcterms:W3CDTF">2026-06-27T08:32:09Z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9AF09056253C4A1895A9D337592D147C_13</vt:lpwstr>
  </property>
  <property fmtid="{D5CDD505-2E9C-101B-9397-08002B2CF9AE}" pid="3" name="KSOProductBuildVer">
    <vt:lpwstr>1033-12.1.0.26880</vt:lpwstr>
  </property>
</Properties>
</file>