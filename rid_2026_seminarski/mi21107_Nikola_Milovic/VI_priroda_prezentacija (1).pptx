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4" r:id="rId8"/>
    <p:sldId id="265" r:id="rId9"/>
    <p:sldId id="266" r:id="rId10"/>
    <p:sldId id="260" r:id="rId11"/>
    <p:sldId id="267" r:id="rId12"/>
    <p:sldId id="261" r:id="rId13"/>
    <p:sldId id="262" r:id="rId14"/>
    <p:sldId id="263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5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731520"/>
            <a:ext cx="3200400" cy="32004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040880" y="-365760"/>
            <a:ext cx="2286000" cy="2286000"/>
          </a:xfrm>
          <a:prstGeom prst="ellipse">
            <a:avLst/>
          </a:prstGeom>
          <a:solidFill>
            <a:srgbClr val="97BC62">
              <a:alpha val="70000"/>
            </a:srgbClr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50292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5029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7BC6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Računarstvo i društvo  ·  2025/2026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" y="1188720"/>
            <a:ext cx="8229600" cy="2011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Uticaj veštačke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intelligencije na prirodu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502920" y="3108960"/>
            <a:ext cx="6400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7BC6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Saveznik ili pretnja?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3611880"/>
            <a:ext cx="64008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Nikola Milović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74320" y="4572000"/>
            <a:ext cx="8686800" cy="571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ED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Matematički fakultet, Univerzitet u Beogradu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28600"/>
            <a:ext cx="8229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384048" cy="38404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2412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96112" y="1005840"/>
            <a:ext cx="777240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Šta je veštačka inteligencija?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664208"/>
            <a:ext cx="384048" cy="384048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6642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04367" y="1645920"/>
            <a:ext cx="777240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Pozitivni uticaji na prirodu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2304288"/>
            <a:ext cx="384048" cy="38404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30428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96112" y="2286000"/>
            <a:ext cx="777240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Negativni uticaji na prirodu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2944368"/>
            <a:ext cx="384048" cy="384048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94436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96112" y="2926080"/>
            <a:ext cx="777240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Primeri iz prakse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3584448"/>
            <a:ext cx="384048" cy="38404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58444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96112" y="3566160"/>
            <a:ext cx="777240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Etička razmatranja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65760" y="4224528"/>
            <a:ext cx="384048" cy="384048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422452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96112" y="4206240"/>
            <a:ext cx="777240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Budući pravci i zaključak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85953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Veštačka inteligencija — kratak pregled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8503920" cy="822960"/>
          </a:xfrm>
          <a:prstGeom prst="roundRect">
            <a:avLst>
              <a:gd name="adj" fmla="val 8889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896112"/>
            <a:ext cx="8321040" cy="7680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Sposobnost računarskih sistema da obavljaju zadatke koji tipično zahtevaju ljudsku inteligenciju: učenje, rezonovanje, prepoznavanje obrazaca i donošenje odluka.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20040" y="1828800"/>
            <a:ext cx="2011680" cy="28346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938528"/>
            <a:ext cx="822960" cy="82296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048256"/>
            <a:ext cx="594360" cy="594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2834640"/>
            <a:ext cx="18288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Mašinsko učenje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" y="3337560"/>
            <a:ext cx="18288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7A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Algoritmi koji uče iz podataka bez eksplicitnog programiranja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460625" y="1828800"/>
            <a:ext cx="2011680" cy="28346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063240" y="1938528"/>
            <a:ext cx="822960" cy="82296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112" y="2048256"/>
            <a:ext cx="594360" cy="5943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834640"/>
            <a:ext cx="18288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Duboko učenje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2560320" y="3337560"/>
            <a:ext cx="18288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7A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Višeslojne neuronske mreže za složene obrasce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617720" y="1828800"/>
            <a:ext cx="2011680" cy="28346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212080" y="1938528"/>
            <a:ext cx="822960" cy="82296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2048256"/>
            <a:ext cx="594360" cy="5943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709160" y="2834640"/>
            <a:ext cx="18288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Obrada jezika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709160" y="3337560"/>
            <a:ext cx="18288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7A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Razumevanje i generisanje prirodnog teksta (NLP)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766560" y="1828800"/>
            <a:ext cx="2011680" cy="28346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360920" y="1938528"/>
            <a:ext cx="822960" cy="82296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9792" y="2048256"/>
            <a:ext cx="594360" cy="5943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858000" y="2834640"/>
            <a:ext cx="18288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Računarska vizija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858000" y="3337560"/>
            <a:ext cx="18288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7A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Interpretacija i analiza vizuelnih podataka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85953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✅  Pozitivni uticaji VI na prirodu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06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1133856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078992"/>
            <a:ext cx="32918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Praćenje biodiverziteta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1572768"/>
            <a:ext cx="384048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BirdNET: 6.000+ vrsta ptica</a:t>
            </a:r>
            <a:endParaRPr lang="en-US" sz="1100" dirty="0"/>
          </a:p>
          <a:p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Global Forest Watch — krčenje u real-time</a:t>
            </a:r>
            <a:endParaRPr lang="en-US" sz="1100" dirty="0"/>
          </a:p>
          <a:p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PAWS: predviđanje krivolova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09160" y="914400"/>
            <a:ext cx="4206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46320" y="1051560"/>
            <a:ext cx="566928" cy="566928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6904" y="113385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1078992"/>
            <a:ext cx="32918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Klimatske promene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892040" y="1572768"/>
            <a:ext cx="384048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Preciznije klimatske prognoze</a:t>
            </a:r>
            <a:endParaRPr lang="en-US" sz="1100" dirty="0"/>
          </a:p>
          <a:p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DeepMind: -40% energije za hlađenje</a:t>
            </a:r>
            <a:endParaRPr lang="en-US" sz="1100" dirty="0"/>
          </a:p>
          <a:p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Optimizacija vetroelektrana +20%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20040" y="2926080"/>
            <a:ext cx="4206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3063240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" y="3145536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97280" y="3090672"/>
            <a:ext cx="32918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Pametna poljoprivreda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502920" y="3584448"/>
            <a:ext cx="384048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Navodnjavanje: -50% vode</a:t>
            </a:r>
            <a:endParaRPr lang="en-US" sz="1100" dirty="0"/>
          </a:p>
          <a:p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Pesticidi: -66% (John Deere)</a:t>
            </a:r>
            <a:endParaRPr lang="en-US" sz="1100" dirty="0"/>
          </a:p>
          <a:p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Plantix: 10M+ farmera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09160" y="2926080"/>
            <a:ext cx="4206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46320" y="3063240"/>
            <a:ext cx="566928" cy="566928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6904" y="3145536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86400" y="3090672"/>
            <a:ext cx="32918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Upravljanje otpadom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92040" y="3584448"/>
            <a:ext cx="384048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Sortiranje: 80 predmeta/min</a:t>
            </a:r>
            <a:endParaRPr lang="en-US" sz="1100" dirty="0"/>
          </a:p>
          <a:p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Smanjenje bacanja hrane</a:t>
            </a:r>
            <a:endParaRPr lang="en-US" sz="1100" dirty="0"/>
          </a:p>
          <a:p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Optimizacija reciklaže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85953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Praćenje biodiverziteta — u detalje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6052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005840"/>
            <a:ext cx="3977640" cy="502920"/>
          </a:xfrm>
          <a:prstGeom prst="roundRect">
            <a:avLst>
              <a:gd name="adj" fmla="val 10909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05840"/>
            <a:ext cx="38862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🐦  BirdNET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11480" y="1627632"/>
            <a:ext cx="3977640" cy="548640"/>
          </a:xfrm>
          <a:prstGeom prst="rect">
            <a:avLst/>
          </a:prstGeom>
          <a:solidFill>
            <a:srgbClr val="F7F9F2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627632"/>
            <a:ext cx="14630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Razvio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011680" y="1627632"/>
            <a:ext cx="2286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Cornell Lab of Ornithology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231136"/>
            <a:ext cx="3977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231136"/>
            <a:ext cx="14630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Prepoznaje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2231136"/>
            <a:ext cx="2286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6.000+ vrsta ptica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2834640"/>
            <a:ext cx="3977640" cy="548640"/>
          </a:xfrm>
          <a:prstGeom prst="rect">
            <a:avLst/>
          </a:prstGeom>
          <a:solidFill>
            <a:srgbClr val="F7F9F2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34640"/>
            <a:ext cx="14630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Metod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011680" y="2834640"/>
            <a:ext cx="2286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Duboko učenje na osnovu zvuka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438144"/>
            <a:ext cx="3977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438144"/>
            <a:ext cx="14630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Pokrivenost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11680" y="3438144"/>
            <a:ext cx="2286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190+ zemalja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4041648"/>
            <a:ext cx="3977640" cy="548640"/>
          </a:xfrm>
          <a:prstGeom prst="rect">
            <a:avLst/>
          </a:prstGeom>
          <a:solidFill>
            <a:srgbClr val="F7F9F2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041648"/>
            <a:ext cx="14630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Primena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011680" y="4041648"/>
            <a:ext cx="2286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Praćenje migracija, procena populacija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914400"/>
            <a:ext cx="416052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1005840"/>
            <a:ext cx="3977640" cy="502920"/>
          </a:xfrm>
          <a:prstGeom prst="roundRect">
            <a:avLst>
              <a:gd name="adj" fmla="val 1090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005840"/>
            <a:ext cx="38862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🌍  Global Forest Watch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54880" y="1627632"/>
            <a:ext cx="3977640" cy="548640"/>
          </a:xfrm>
          <a:prstGeom prst="rect">
            <a:avLst/>
          </a:prstGeom>
          <a:solidFill>
            <a:srgbClr val="F7F9F2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627632"/>
            <a:ext cx="14630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7BC6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Organizacija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55080" y="1627632"/>
            <a:ext cx="2286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World Resources Institute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54880" y="2231136"/>
            <a:ext cx="3977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2231136"/>
            <a:ext cx="14630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7BC6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Tehnologija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55080" y="2231136"/>
            <a:ext cx="2286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 + satelitski snimci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0" y="2834640"/>
            <a:ext cx="3977640" cy="548640"/>
          </a:xfrm>
          <a:prstGeom prst="rect">
            <a:avLst/>
          </a:prstGeom>
          <a:solidFill>
            <a:srgbClr val="F7F9F2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2834640"/>
            <a:ext cx="14630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7BC6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Ažuriranje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55080" y="2834640"/>
            <a:ext cx="2286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Svaka 48 sata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54880" y="3438144"/>
            <a:ext cx="3977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0" y="3438144"/>
            <a:ext cx="14630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7BC6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Detekcija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55080" y="3438144"/>
            <a:ext cx="2286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Krčenje šuma u realnom vremenu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754880" y="4041648"/>
            <a:ext cx="3977640" cy="548640"/>
          </a:xfrm>
          <a:prstGeom prst="rect">
            <a:avLst/>
          </a:prstGeom>
          <a:solidFill>
            <a:srgbClr val="F7F9F2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46320" y="4041648"/>
            <a:ext cx="14630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7BC6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Uticaj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355080" y="4041648"/>
            <a:ext cx="2286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Brža reakcija vlasti i nevladinih org.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85953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VI u borbi protiv klimatskih promena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640080" cy="64008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2161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16152" y="1060704"/>
            <a:ext cx="3200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DeepMind + Google DC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16152" y="1417320"/>
            <a:ext cx="1371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−40%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2560320" y="1508760"/>
            <a:ext cx="18288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7A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energije za hlađenje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2029968"/>
            <a:ext cx="388620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 optimizuje hlađenje serverskih centara u realnom vremenu analizom stotina senzora.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91440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46320" y="1097280"/>
            <a:ext cx="640080" cy="64008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216152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05272" y="1060704"/>
            <a:ext cx="3200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Vetroelektrane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605272" y="1417320"/>
            <a:ext cx="1371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97BC6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+20%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6949440" y="1508760"/>
            <a:ext cx="18288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7A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vrednost energije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846320" y="2029968"/>
            <a:ext cx="388620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DeepMind unapred predviđa produkciju vetra 36h, čineći wind energy pouzdanijim.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320040" y="297180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7200" y="3154680"/>
            <a:ext cx="640080" cy="64008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273552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216152" y="3118104"/>
            <a:ext cx="3200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Google Flood Hub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1216152" y="3474720"/>
            <a:ext cx="1371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80</a:t>
            </a:r>
            <a:endParaRPr lang="en-US" sz="2600" dirty="0"/>
          </a:p>
        </p:txBody>
      </p:sp>
      <p:sp>
        <p:nvSpPr>
          <p:cNvPr id="23" name="Text 18"/>
          <p:cNvSpPr/>
          <p:nvPr/>
        </p:nvSpPr>
        <p:spPr>
          <a:xfrm>
            <a:off x="2560320" y="3566160"/>
            <a:ext cx="18288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7A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zemalja pokriveno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457200" y="4087368"/>
            <a:ext cx="388620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Predviđanje poplava 7 dana unapred — upozorenja šalje direktno građanima.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4709160" y="297180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846320" y="3154680"/>
            <a:ext cx="640080" cy="64008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3273552"/>
            <a:ext cx="402336" cy="40233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605272" y="3118104"/>
            <a:ext cx="3200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Klimatski modeli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5605272" y="3474720"/>
            <a:ext cx="1371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97BC6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10×</a:t>
            </a:r>
            <a:endParaRPr lang="en-US" sz="2600" dirty="0"/>
          </a:p>
        </p:txBody>
      </p:sp>
      <p:sp>
        <p:nvSpPr>
          <p:cNvPr id="30" name="Text 24"/>
          <p:cNvSpPr/>
          <p:nvPr/>
        </p:nvSpPr>
        <p:spPr>
          <a:xfrm>
            <a:off x="6949440" y="3566160"/>
            <a:ext cx="18288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7A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veća preciznost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4846320" y="4087368"/>
            <a:ext cx="388620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 modeli procesiraju podatke sa miliona senzora i satelita brže od klasičnih metoda.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85953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🌾  Pametna poljoprivreda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987552"/>
            <a:ext cx="27432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−50%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20040" y="1554480"/>
            <a:ext cx="2743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4ED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potrošnje vode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1828800"/>
            <a:ext cx="2743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D4ED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pametno navodnjavanje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18688" y="9144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18688" y="987552"/>
            <a:ext cx="27432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−66%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218688" y="1554480"/>
            <a:ext cx="2743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4ED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herbicida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18688" y="1828800"/>
            <a:ext cx="2743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D4ED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John Deere See &amp; Spray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17336" y="9144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17336" y="987552"/>
            <a:ext cx="27432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10M+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117336" y="1554480"/>
            <a:ext cx="2743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4ED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farmera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17336" y="1828800"/>
            <a:ext cx="2743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D4ED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koriste Plantix globalno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" y="2304288"/>
            <a:ext cx="8503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Kako funkcioniše precizna VI poljoprivreda?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0040" y="2761488"/>
            <a:ext cx="2011680" cy="2148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005840" y="2852928"/>
            <a:ext cx="640080" cy="64008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2852928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29768" y="3566160"/>
            <a:ext cx="1792224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Senzori mere vlažnost tla, temperaturu i stanje useva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496312" y="2761488"/>
            <a:ext cx="2011680" cy="2148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82112" y="2852928"/>
            <a:ext cx="640080" cy="64008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82112" y="2852928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606040" y="3566160"/>
            <a:ext cx="1792224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 analizira podatke i upoređuje sa vremenskom prognozom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72584" y="2761488"/>
            <a:ext cx="2011680" cy="2148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358384" y="2852928"/>
            <a:ext cx="640080" cy="64008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58384" y="2852928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782312" y="3566160"/>
            <a:ext cx="1792224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Sistem automatski dozira vodu, đubrivo ili pesticide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48856" y="2761488"/>
            <a:ext cx="2011680" cy="21488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534656" y="2852928"/>
            <a:ext cx="640080" cy="64008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34656" y="2852928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958584" y="3566160"/>
            <a:ext cx="1792224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 uči iz rezultata i poboljšava preporuke naredne sezone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⚠️  Negativni uticaji VI na prirodu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2788920" cy="3977640"/>
          </a:xfrm>
          <a:prstGeom prst="roundRect">
            <a:avLst>
              <a:gd name="adj" fmla="val 3934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52728" y="1024128"/>
            <a:ext cx="804672" cy="804672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9888" y="1161288"/>
            <a:ext cx="530352" cy="5303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1920240"/>
            <a:ext cx="26060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Energetska potrošnja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65760" y="2423160"/>
            <a:ext cx="260604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8A020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502t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365760" y="2999232"/>
            <a:ext cx="2606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AAAA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CO₂ za trening GPT-3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11480" y="3364992"/>
            <a:ext cx="25146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Treniranje = 5 automobila tokom celog veka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Globalni DC: 200-250 TWh/god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Jevons paradox: efikasnost ↑, potrošnja ↑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18688" y="914400"/>
            <a:ext cx="2788920" cy="3977640"/>
          </a:xfrm>
          <a:prstGeom prst="roundRect">
            <a:avLst>
              <a:gd name="adj" fmla="val 3934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197096" y="1024128"/>
            <a:ext cx="804672" cy="804672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161288"/>
            <a:ext cx="530352" cy="5303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10128" y="1920240"/>
            <a:ext cx="26060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Elektronski otpad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310128" y="2423160"/>
            <a:ext cx="260604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0525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60Mt</a:t>
            </a:r>
            <a:endParaRPr lang="en-US" sz="2800" dirty="0"/>
          </a:p>
        </p:txBody>
      </p:sp>
      <p:sp>
        <p:nvSpPr>
          <p:cNvPr id="15" name="Text 11"/>
          <p:cNvSpPr/>
          <p:nvPr/>
        </p:nvSpPr>
        <p:spPr>
          <a:xfrm>
            <a:off x="3310128" y="2999232"/>
            <a:ext cx="2606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AAAA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e-otpada godišnje (globalno)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3355848" y="3364992"/>
            <a:ext cx="25146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Rudarenje retkih metala (kobalt, litijum)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Brza zastarelost hardvera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Devastacija ekosistema u rudnicima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163056" y="914400"/>
            <a:ext cx="2788920" cy="3977640"/>
          </a:xfrm>
          <a:prstGeom prst="roundRect">
            <a:avLst>
              <a:gd name="adj" fmla="val 3934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141464" y="1024128"/>
            <a:ext cx="804672" cy="804672"/>
          </a:xfrm>
          <a:prstGeom prst="ellipse">
            <a:avLst/>
          </a:prstGeom>
          <a:solidFill>
            <a:srgbClr val="5B9BD5"/>
          </a:solidFill>
          <a:ln w="12700">
            <a:solidFill>
              <a:srgbClr val="5B9BD5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624" y="1161288"/>
            <a:ext cx="530352" cy="53035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54496" y="1920240"/>
            <a:ext cx="26060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Potrošnja vode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6254496" y="2423160"/>
            <a:ext cx="260604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5B9BD5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700k L</a:t>
            </a:r>
            <a:endParaRPr lang="en-US" sz="2800" dirty="0"/>
          </a:p>
        </p:txBody>
      </p:sp>
      <p:sp>
        <p:nvSpPr>
          <p:cNvPr id="22" name="Text 17"/>
          <p:cNvSpPr/>
          <p:nvPr/>
        </p:nvSpPr>
        <p:spPr>
          <a:xfrm>
            <a:off x="6254496" y="2999232"/>
            <a:ext cx="2606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AAAA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vode za jedan LLM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6300216" y="3364992"/>
            <a:ext cx="25146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Hlađenje serverskih centara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Problem u sušnim regionima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CCC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Operativno: 500ml / 20-50 pitanja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⚠️  E-otpad i retki metali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4023360" cy="3931920"/>
          </a:xfrm>
          <a:prstGeom prst="roundRect">
            <a:avLst>
              <a:gd name="adj" fmla="val 2791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005840"/>
            <a:ext cx="38404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7BC6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Životni ciklus VI hardvera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502920" cy="5029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⛏️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43000" y="1508760"/>
            <a:ext cx="1371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Rudarenje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43000" y="1837944"/>
            <a:ext cx="301752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Kobalt, litijum, tantal, neodim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67512" y="2075688"/>
            <a:ext cx="164592" cy="32004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377440"/>
            <a:ext cx="502920" cy="5029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37744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🏭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43000" y="2331720"/>
            <a:ext cx="1371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Proizvodnja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2660904"/>
            <a:ext cx="301752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Energetski intenzivna fabrikacija čipova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67512" y="2898648"/>
            <a:ext cx="164592" cy="32004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3200400"/>
            <a:ext cx="502920" cy="5029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20040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💻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3154680"/>
            <a:ext cx="1371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Upotreba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3483864"/>
            <a:ext cx="301752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Prosečan vek: 3–5 godina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67512" y="3721608"/>
            <a:ext cx="164592" cy="32004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4023360"/>
            <a:ext cx="502920" cy="5029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4023360"/>
            <a:ext cx="5029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🗑️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43000" y="3977640"/>
            <a:ext cx="1371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Otpad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43000" y="4306824"/>
            <a:ext cx="301752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AAA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 miliona tona e-otpada/god globalno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0" y="914400"/>
            <a:ext cx="4251960" cy="3931920"/>
          </a:xfrm>
          <a:prstGeom prst="roundRect">
            <a:avLst>
              <a:gd name="adj" fmla="val 2791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1005840"/>
            <a:ext cx="40690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Ključne činjenice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09160" y="1508760"/>
            <a:ext cx="3931920" cy="713232"/>
          </a:xfrm>
          <a:prstGeom prst="roundRect">
            <a:avLst>
              <a:gd name="adj" fmla="val 8974"/>
            </a:avLst>
          </a:prstGeom>
          <a:solidFill>
            <a:srgbClr val="333333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1508760"/>
            <a:ext cx="1188720" cy="7132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0525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60Mt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989320" y="1554480"/>
            <a:ext cx="2560320" cy="6217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e-otpada godišnje — više od težine Velikog zida Kine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09160" y="2331720"/>
            <a:ext cx="3931920" cy="713232"/>
          </a:xfrm>
          <a:prstGeom prst="roundRect">
            <a:avLst>
              <a:gd name="adj" fmla="val 8974"/>
            </a:avLst>
          </a:prstGeom>
          <a:solidFill>
            <a:srgbClr val="333333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73168" y="2331720"/>
            <a:ext cx="1188720" cy="7132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0525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17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989320" y="2377440"/>
            <a:ext cx="2560320" cy="6217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retkih metala potrebno za jedan AI čip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09160" y="3154680"/>
            <a:ext cx="3931920" cy="713232"/>
          </a:xfrm>
          <a:prstGeom prst="roundRect">
            <a:avLst>
              <a:gd name="adj" fmla="val 8974"/>
            </a:avLst>
          </a:prstGeom>
          <a:solidFill>
            <a:srgbClr val="333333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73168" y="3154680"/>
            <a:ext cx="1188720" cy="7132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0525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~3god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5989320" y="3200400"/>
            <a:ext cx="2560320" cy="6217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prosečan vek GPU kartice pre zamene novijom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09160" y="3977640"/>
            <a:ext cx="3931920" cy="713232"/>
          </a:xfrm>
          <a:prstGeom prst="roundRect">
            <a:avLst>
              <a:gd name="adj" fmla="val 8974"/>
            </a:avLst>
          </a:prstGeom>
          <a:solidFill>
            <a:srgbClr val="333333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73168" y="3977640"/>
            <a:ext cx="1188720" cy="7132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0525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Congo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5989320" y="4023360"/>
            <a:ext cx="2560320" cy="6217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70% svetskog kobalta — rudarenje pod teškim uslovima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85953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Primeri iz prakse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320040" y="914400"/>
          <a:ext cx="8503920" cy="402336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3200400"/>
              </a:tblGrid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Ko?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Šta?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Rezultat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Google + CAL FIRE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Detekcija šumskih požara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30 min ranije detekcija 🔥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Allen Coral Atlas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Mapiranje koraljnih grebena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100% plitkovodnih grebena (348.000 km²)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Microsoft AI for Earth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Praćenje morskih vrsta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30.000+ kitova identifikovano 🐋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DeepMind + Google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Optimizacija hlađenja DC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-40% energetske potrošnje ⚡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John Deere See &amp; Spray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Precizna primena pesticida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-66% herbicida 🌾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Google Flood Hub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Predviđanje poplava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D3A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80 zemalja, 7 dana unapred 🌊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D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85953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Etička razmatranja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16128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7552" y="1033272"/>
            <a:ext cx="4114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Ko kontroliše podatke?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87552" y="1399032"/>
            <a:ext cx="7726680" cy="384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A7A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Zemlja Globalnog juga pruža podatke, ali koristi ubire Globalni sever — neravnopravan odnos.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0040" y="1965960"/>
            <a:ext cx="8503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2167128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87552" y="2039112"/>
            <a:ext cx="4114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Nadzor i privatnost divljači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987552" y="2404872"/>
            <a:ext cx="7726680" cy="384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A7A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Intenzivno praćenje životinja može poremetiti njihovo prirodno ponašanje.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20040" y="2971800"/>
            <a:ext cx="8503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3172968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87552" y="3044952"/>
            <a:ext cx="4114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Autonomne odluke u ekosistemima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987552" y="3410712"/>
            <a:ext cx="7726680" cy="384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A7A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Ko je odgovoran kada VI sistem pogrešno upravlja ekosistemom?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320040" y="3977640"/>
            <a:ext cx="8503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4178808"/>
            <a:ext cx="438912" cy="43891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87552" y="4050792"/>
            <a:ext cx="4114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Greenwashing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987552" y="4416552"/>
            <a:ext cx="7726680" cy="384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A7A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Neke kompanije ističu ekološke primene VI da bi sakrile ogroman ekološki otisak infrastrukture.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85953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Budući pravci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84048" y="1069848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1069848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033272"/>
            <a:ext cx="4114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Zelena VI (Green AI)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1399032"/>
            <a:ext cx="7635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Efikasniji algoritmi i neuromorphic computing za drastično smanjenje energetske potrošnje.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947672"/>
            <a:ext cx="85039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2057400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2057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2020824"/>
            <a:ext cx="4114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Obnovljivi izvori energije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2386584"/>
            <a:ext cx="7635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Serverski centri napajani isključivo solarnom i energijom vetra — neki već idu tim putem.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2935224"/>
            <a:ext cx="85039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84048" y="3044952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304495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3008376"/>
            <a:ext cx="4114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Regulativa i transparentnost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3374136"/>
            <a:ext cx="7635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Obavezno izveštavanje o CO₂ otisku VI sistema, slično kao industrijske emisije.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3922776"/>
            <a:ext cx="85039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84048" y="4032504"/>
            <a:ext cx="548640" cy="548640"/>
          </a:xfrm>
          <a:prstGeom prst="roundRect">
            <a:avLst>
              <a:gd name="adj" fmla="val 10000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032504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51560" y="3995928"/>
            <a:ext cx="4114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Međunarodna saradnja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" y="4361688"/>
            <a:ext cx="7635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7A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Globalni sporazumi o ekološkim standardima za VI — planeta ne poznaje granice.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85953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Jevons paradoks — efikasnost koja povećava potrošnju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8503920" cy="1005840"/>
          </a:xfrm>
          <a:prstGeom prst="roundRect">
            <a:avLst>
              <a:gd name="adj" fmla="val 9091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86968"/>
            <a:ext cx="8229600" cy="9692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"Povećanje efikasnosti korišćenja resursa paradoksalno dovodi do povećanja ukupne potrošnje tog resursa."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0" y="1755648"/>
            <a:ext cx="3200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7A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— William Stanley Jevons, 1865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2176272"/>
            <a:ext cx="2743200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" y="2267712"/>
            <a:ext cx="2743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🚗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11480" y="2834640"/>
            <a:ext cx="25603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Efikasniji automobili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329184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D4EDAA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291840"/>
            <a:ext cx="24688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Uzrok: Manji troškovi po km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1480" y="3858768"/>
            <a:ext cx="2560320" cy="804672"/>
          </a:xfrm>
          <a:prstGeom prst="roundRect">
            <a:avLst>
              <a:gd name="adj" fmla="val 6818"/>
            </a:avLst>
          </a:prstGeom>
          <a:solidFill>
            <a:srgbClr val="FFE8E8"/>
          </a:solidFill>
          <a:ln w="12700">
            <a:solidFill>
              <a:srgbClr val="FF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877056"/>
            <a:ext cx="2468880" cy="7680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Efekat: Ljudi više voze → ukupno više goriva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18688" y="2176272"/>
            <a:ext cx="2743200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218688" y="2267712"/>
            <a:ext cx="2743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✈️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310128" y="2834640"/>
            <a:ext cx="25603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Jeftiniji letovi (VI cene)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310128" y="329184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D4EDAA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55848" y="3291840"/>
            <a:ext cx="24688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Uzrok: VI optimizuje popunjenost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310128" y="3858768"/>
            <a:ext cx="2560320" cy="804672"/>
          </a:xfrm>
          <a:prstGeom prst="roundRect">
            <a:avLst>
              <a:gd name="adj" fmla="val 6818"/>
            </a:avLst>
          </a:prstGeom>
          <a:solidFill>
            <a:srgbClr val="FFE8E8"/>
          </a:solidFill>
          <a:ln w="12700">
            <a:solidFill>
              <a:srgbClr val="FF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55848" y="3877056"/>
            <a:ext cx="2468880" cy="7680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Efekat: Više putnika, više letova → više emisija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17336" y="2176272"/>
            <a:ext cx="2743200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117336" y="2267712"/>
            <a:ext cx="2743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🤖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208776" y="2834640"/>
            <a:ext cx="25603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Efikasniji VI modeli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08776" y="3291840"/>
            <a:ext cx="2560320" cy="502920"/>
          </a:xfrm>
          <a:prstGeom prst="roundRect">
            <a:avLst>
              <a:gd name="adj" fmla="val 10909"/>
            </a:avLst>
          </a:prstGeom>
          <a:solidFill>
            <a:srgbClr val="D4EDAA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54496" y="3291840"/>
            <a:ext cx="24688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Uzrok: Manji modeli, brži trening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08776" y="3858768"/>
            <a:ext cx="2560320" cy="804672"/>
          </a:xfrm>
          <a:prstGeom prst="roundRect">
            <a:avLst>
              <a:gd name="adj" fmla="val 6818"/>
            </a:avLst>
          </a:prstGeom>
          <a:solidFill>
            <a:srgbClr val="FFE8E8"/>
          </a:solidFill>
          <a:ln w="12700">
            <a:solidFill>
              <a:srgbClr val="FF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54496" y="3877056"/>
            <a:ext cx="2468880" cy="7680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9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Efekat: Više primena, više upita → ukupno više energije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85953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VI vs. tradiconalne metode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103120" cy="475488"/>
          </a:xfrm>
          <a:prstGeom prst="rect">
            <a:avLst/>
          </a:prstGeom>
          <a:solidFill>
            <a:srgbClr val="1A3A1A"/>
          </a:solidFill>
          <a:ln w="12700">
            <a:solidFill>
              <a:srgbClr val="1A3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3192" y="914400"/>
            <a:ext cx="201168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Oblast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423160" y="914400"/>
            <a:ext cx="3017520" cy="47548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96312" y="914400"/>
            <a:ext cx="292608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Tradicionalno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40680" y="914400"/>
            <a:ext cx="3017520" cy="47548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13832" y="914400"/>
            <a:ext cx="292608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Sa VI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389888"/>
            <a:ext cx="2103120" cy="576072"/>
          </a:xfrm>
          <a:prstGeom prst="rect">
            <a:avLst/>
          </a:prstGeom>
          <a:solidFill>
            <a:srgbClr val="F7F9F2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1389888"/>
            <a:ext cx="20116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Monitoring šuma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23160" y="1389888"/>
            <a:ext cx="3017520" cy="576072"/>
          </a:xfrm>
          <a:prstGeom prst="rect">
            <a:avLst/>
          </a:prstGeom>
          <a:solidFill>
            <a:srgbClr val="F7F9F2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96312" y="1389888"/>
            <a:ext cx="29260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Terenski obilasci (meseci)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40680" y="1389888"/>
            <a:ext cx="3017520" cy="576072"/>
          </a:xfrm>
          <a:prstGeom prst="rect">
            <a:avLst/>
          </a:prstGeom>
          <a:solidFill>
            <a:srgbClr val="EBF5E1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13832" y="1389888"/>
            <a:ext cx="29260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Sateliti + VI (48h) 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1984248"/>
            <a:ext cx="21031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" y="1984248"/>
            <a:ext cx="20116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Identifikacija vrsta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423160" y="1984248"/>
            <a:ext cx="30175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96312" y="1984248"/>
            <a:ext cx="29260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Ekspert na terenu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40680" y="1984248"/>
            <a:ext cx="3017520" cy="576072"/>
          </a:xfrm>
          <a:prstGeom prst="rect">
            <a:avLst/>
          </a:prstGeom>
          <a:solidFill>
            <a:srgbClr val="F5FBEE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13832" y="1984248"/>
            <a:ext cx="29260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BirdNET automatski 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2578608"/>
            <a:ext cx="2103120" cy="576072"/>
          </a:xfrm>
          <a:prstGeom prst="rect">
            <a:avLst/>
          </a:prstGeom>
          <a:solidFill>
            <a:srgbClr val="F7F9F2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2578608"/>
            <a:ext cx="20116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Navodnjavanje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423160" y="2578608"/>
            <a:ext cx="3017520" cy="576072"/>
          </a:xfrm>
          <a:prstGeom prst="rect">
            <a:avLst/>
          </a:prstGeom>
          <a:solidFill>
            <a:srgbClr val="F7F9F2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96312" y="2578608"/>
            <a:ext cx="29260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Fiksni raspored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40680" y="2578608"/>
            <a:ext cx="3017520" cy="576072"/>
          </a:xfrm>
          <a:prstGeom prst="rect">
            <a:avLst/>
          </a:prstGeom>
          <a:solidFill>
            <a:srgbClr val="EBF5E1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13832" y="2578608"/>
            <a:ext cx="29260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Senzori + VI (−50% vode) 💧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3172968"/>
            <a:ext cx="21031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3192" y="3172968"/>
            <a:ext cx="20116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Prognoza poplava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423160" y="3172968"/>
            <a:ext cx="30175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6312" y="3172968"/>
            <a:ext cx="29260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1–2 dana unapred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40680" y="3172968"/>
            <a:ext cx="3017520" cy="576072"/>
          </a:xfrm>
          <a:prstGeom prst="rect">
            <a:avLst/>
          </a:prstGeom>
          <a:solidFill>
            <a:srgbClr val="F5FBEE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13832" y="3172968"/>
            <a:ext cx="29260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 dana unapred (80 zem.) 🌊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3767328"/>
            <a:ext cx="2103120" cy="576072"/>
          </a:xfrm>
          <a:prstGeom prst="rect">
            <a:avLst/>
          </a:prstGeom>
          <a:solidFill>
            <a:srgbClr val="F7F9F2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3192" y="3767328"/>
            <a:ext cx="20116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Sortiranje otpada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423160" y="3767328"/>
            <a:ext cx="3017520" cy="576072"/>
          </a:xfrm>
          <a:prstGeom prst="rect">
            <a:avLst/>
          </a:prstGeom>
          <a:solidFill>
            <a:srgbClr val="F7F9F2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96312" y="3767328"/>
            <a:ext cx="29260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~30 kom/min (čovek)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40680" y="3767328"/>
            <a:ext cx="3017520" cy="576072"/>
          </a:xfrm>
          <a:prstGeom prst="rect">
            <a:avLst/>
          </a:prstGeom>
          <a:solidFill>
            <a:srgbClr val="EBF5E1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3767328"/>
            <a:ext cx="29260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~80 kom/min (robot) ♻️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0040" y="4361688"/>
            <a:ext cx="21031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3192" y="4361688"/>
            <a:ext cx="20116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Klimatski modeli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423160" y="4361688"/>
            <a:ext cx="30175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96312" y="4361688"/>
            <a:ext cx="29260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Superračunari, meseci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440680" y="4361688"/>
            <a:ext cx="3017520" cy="576072"/>
          </a:xfrm>
          <a:prstGeom prst="rect">
            <a:avLst/>
          </a:prstGeom>
          <a:solidFill>
            <a:srgbClr val="F5FBEE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513832" y="4361688"/>
            <a:ext cx="2926080" cy="5760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VI, dani, veća preciznost 🌡️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85953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Etika u primeni VI — Ko kontroliše podatke?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1463040"/>
          </a:xfrm>
          <a:prstGeom prst="roundRect">
            <a:avLst>
              <a:gd name="adj" fmla="val 75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24128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987552"/>
            <a:ext cx="68580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Ko poseduje podatke o prirodi?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737360" y="1508760"/>
            <a:ext cx="6858000" cy="731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4ED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Zemlja Globalnog juga pruža podatke o biodiverzitetu, a kompanije i institucije Globalnog severa ih analiziraju i komercijalizuju.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20040" y="2514600"/>
            <a:ext cx="4160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C33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Problem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63440" y="2514600"/>
            <a:ext cx="4160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5F2D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Moguće rešenje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0040" y="2926080"/>
            <a:ext cx="4160520" cy="1920240"/>
          </a:xfrm>
          <a:prstGeom prst="roundRect">
            <a:avLst>
              <a:gd name="adj" fmla="val 4762"/>
            </a:avLst>
          </a:prstGeom>
          <a:solidFill>
            <a:srgbClr val="FFF0F0"/>
          </a:solidFill>
          <a:ln w="12700">
            <a:solidFill>
              <a:srgbClr val="FFCCC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3017520"/>
            <a:ext cx="3886200" cy="5120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9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Neravnopravan pristup koristi od podataka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57200" y="3584448"/>
            <a:ext cx="3886200" cy="5120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9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Lokalne zajednice ne učestvuju u odlukama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57200" y="4151376"/>
            <a:ext cx="3886200" cy="5120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9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Privatni podaci o ekosistemima bez saglasnosti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663440" y="2926080"/>
            <a:ext cx="4160520" cy="1920240"/>
          </a:xfrm>
          <a:prstGeom prst="roundRect">
            <a:avLst>
              <a:gd name="adj" fmla="val 4762"/>
            </a:avLst>
          </a:prstGeom>
          <a:solidFill>
            <a:srgbClr val="F0F8E8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00600" y="3017520"/>
            <a:ext cx="3886200" cy="5120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Modeli pravične podele prihoda (ABS sporazumi)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800600" y="3584448"/>
            <a:ext cx="3886200" cy="5120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Uključivanje lokalnih zajednica u projekte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800600" y="4151376"/>
            <a:ext cx="3886200" cy="5120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Open-source VI alati za biodiverzitet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85953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Etika — Greenwashing u VI industriji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8503920" cy="914400"/>
          </a:xfrm>
          <a:prstGeom prst="roundRect">
            <a:avLst>
              <a:gd name="adj" fmla="val 10000"/>
            </a:avLst>
          </a:prstGeom>
          <a:solidFill>
            <a:srgbClr val="FFF3CD"/>
          </a:solidFill>
          <a:ln w="12700">
            <a:solidFill>
              <a:srgbClr val="FFD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96112"/>
            <a:ext cx="22860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6914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⚠️  Greenwashing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307592"/>
            <a:ext cx="8229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B691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Marketinška praksa u kojoj kompanije preuveličavaju ekološke benefite svojih proizvoda kako bi prikrile negativne uticaje.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20040" y="1920240"/>
            <a:ext cx="4160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5F2D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Šta kompanije kažu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663440" y="1920240"/>
            <a:ext cx="4160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C33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Šta podaci govore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" y="2331720"/>
            <a:ext cx="4160520" cy="2514600"/>
          </a:xfrm>
          <a:prstGeom prst="roundRect">
            <a:avLst>
              <a:gd name="adj" fmla="val 3636"/>
            </a:avLst>
          </a:prstGeom>
          <a:solidFill>
            <a:srgbClr val="F0F8E8"/>
          </a:solidFill>
          <a:ln w="12700">
            <a:solidFill>
              <a:srgbClr val="D4EDA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2331720"/>
            <a:ext cx="4160520" cy="2514600"/>
          </a:xfrm>
          <a:prstGeom prst="roundRect">
            <a:avLst>
              <a:gd name="adj" fmla="val 3636"/>
            </a:avLst>
          </a:prstGeom>
          <a:solidFill>
            <a:srgbClr val="FFF0F0"/>
          </a:solidFill>
          <a:ln w="12700">
            <a:solidFill>
              <a:srgbClr val="FF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423160"/>
            <a:ext cx="3886200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✅  "Naš VI model štiti biodiverzitet"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172968"/>
            <a:ext cx="3886200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✅  "Trudimo se ka carbon-neutral ciljevima"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922776"/>
            <a:ext cx="3886200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2C5F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✅  "VI pomaže planeti više nego što šteti"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800600" y="2423160"/>
            <a:ext cx="3886200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9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❌  Isti model troši energiju kao 5 automobila godišnje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00600" y="3172968"/>
            <a:ext cx="3886200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9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❌  Serverski centri i dalje rade uglavnom na fosilnim gorivima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800600" y="3922776"/>
            <a:ext cx="3886200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9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❌  Nema objektivnih studija koje to potvrđuju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82880"/>
            <a:ext cx="859536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3A1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Timeline — put ka Zelenoj veštačkoj inteligenciji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2788920"/>
            <a:ext cx="8321040" cy="7315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688336"/>
            <a:ext cx="256032" cy="25603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704" y="1691640"/>
            <a:ext cx="54864" cy="102412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868680"/>
            <a:ext cx="137160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2C5F2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868680"/>
            <a:ext cx="1371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C5F2D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2019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0352" y="1161288"/>
            <a:ext cx="1316736" cy="5120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Strubell objavljuje studiju o CO₂ otisku NLP modela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50008" y="2688336"/>
            <a:ext cx="256032" cy="256032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50592" y="2944368"/>
            <a:ext cx="54864" cy="9144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92808" y="3858768"/>
            <a:ext cx="137160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892808" y="3858768"/>
            <a:ext cx="1371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7BC6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2021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920240" y="4151376"/>
            <a:ext cx="1316736" cy="5120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DeepMind postiže −40% energije hlađenja u Google DC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739896" y="2688336"/>
            <a:ext cx="256032" cy="25603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1691640"/>
            <a:ext cx="54864" cy="102412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82696" y="868680"/>
            <a:ext cx="137160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2C5F2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282696" y="868680"/>
            <a:ext cx="1371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C5F2D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2022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10128" y="1161288"/>
            <a:ext cx="1316736" cy="5120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 IPCC preporučuje VI kao alat za klimatske ciljeve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129784" y="2688336"/>
            <a:ext cx="256032" cy="256032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30368" y="2944368"/>
            <a:ext cx="54864" cy="9144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72584" y="3858768"/>
            <a:ext cx="137160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72584" y="3858768"/>
            <a:ext cx="1371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7BC6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2023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00016" y="4151376"/>
            <a:ext cx="1316736" cy="5120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EU AI Act uključuje zahteve za ekološku transparentnost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519672" y="2688336"/>
            <a:ext cx="256032" cy="25603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20256" y="1691640"/>
            <a:ext cx="54864" cy="102412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62472" y="868680"/>
            <a:ext cx="137160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2C5F2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62472" y="868680"/>
            <a:ext cx="1371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C5F2D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2025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089904" y="1161288"/>
            <a:ext cx="1316736" cy="5120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Prva generacija 'Green AI' modela — 10× manja potrošnja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909560" y="2688336"/>
            <a:ext cx="256032" cy="256032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10144" y="2944368"/>
            <a:ext cx="54864" cy="9144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52360" y="3858768"/>
            <a:ext cx="137160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452360" y="3858768"/>
            <a:ext cx="1371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7BC6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2030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479792" y="4151376"/>
            <a:ext cx="1316736" cy="51206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3A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Cilj: carbon-neutral serverski centri (Google, Microsoft)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731520"/>
            <a:ext cx="3200400" cy="32004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3474720"/>
            <a:ext cx="2286000" cy="2286000"/>
          </a:xfrm>
          <a:prstGeom prst="ellipse">
            <a:avLst/>
          </a:prstGeom>
          <a:solidFill>
            <a:srgbClr val="97BC62">
              <a:alpha val="50000"/>
            </a:srgbClr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7BC6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Zaključak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2C5F2D"/>
          </a:solidFill>
          <a:ln w="12700">
            <a:solidFill>
              <a:srgbClr val="97BC62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05840"/>
            <a:ext cx="795528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i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VI ima ogroman potencijal da postane jedan od najmoćnijih alata u borbi za zaštitu prirode — ali dolazi sa sopstvenim ekološkim cehom koji ne sme biti ignorisan.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395728"/>
            <a:ext cx="27432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🌱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2907792"/>
            <a:ext cx="256032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D4ED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 može biti moćan saveznik prirode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55848" y="23317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2395728"/>
            <a:ext cx="27432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447288" y="2907792"/>
            <a:ext cx="256032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D4ED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Ekološki trošak mora biti adresian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54496" y="23317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54496" y="2395728"/>
            <a:ext cx="27432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🌍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345936" y="2907792"/>
            <a:ext cx="256032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D4ED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Rešenje: odgovoran i svestan razvoj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Planeta ne može čekati.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572000"/>
            <a:ext cx="8686800" cy="571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ED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Matematički fakultet, Univerzitet u Beogradu  ·  RID 2025/2026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743200"/>
            <a:ext cx="2743200" cy="2743200"/>
          </a:xfrm>
          <a:prstGeom prst="ellipse">
            <a:avLst/>
          </a:prstGeom>
          <a:solidFill>
            <a:srgbClr val="97BC62">
              <a:alpha val="60000"/>
            </a:srgbClr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14400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194560"/>
            <a:ext cx="822960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Hvala na pažnji!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97BC62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Pitanja?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74320" y="4572000"/>
            <a:ext cx="8686800" cy="5715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4EDA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Uticaj veštačke inteligencije na prirodu  ·  RID 2025/2026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7505</Words>
  <Application>WPS Presentation</Application>
  <PresentationFormat>On-screen Show (16:9)</PresentationFormat>
  <Paragraphs>537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1" baseType="lpstr">
      <vt:lpstr>Arial</vt:lpstr>
      <vt:lpstr>SimSun</vt:lpstr>
      <vt:lpstr>Wingdings</vt:lpstr>
      <vt:lpstr>Calibri</vt:lpstr>
      <vt:lpstr>Calibri</vt:lpstr>
      <vt:lpstr>Calibri</vt:lpstr>
      <vt:lpstr>Cambria</vt:lpstr>
      <vt:lpstr>Cambria</vt:lpstr>
      <vt:lpstr>Cambria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Uticaj vestacke inteligencije na prirodu</dc:title>
  <dc:creator>Student RID 2025/2026</dc:creator>
  <dc:subject>PptxGenJS Presentation</dc:subject>
  <cp:lastModifiedBy>Nikola Milovic</cp:lastModifiedBy>
  <cp:revision>2</cp:revision>
  <dcterms:created xsi:type="dcterms:W3CDTF">2026-06-19T11:56:00Z</dcterms:created>
  <dcterms:modified xsi:type="dcterms:W3CDTF">2026-06-23T09:49:06Z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3BF44AB21048478CB59FB9DC835B9C53_13</vt:lpwstr>
  </property>
  <property fmtid="{D5CDD505-2E9C-101B-9397-08002B2CF9AE}" pid="3" name="KSOProductBuildVer">
    <vt:lpwstr>1033-12.1.0.26880</vt:lpwstr>
  </property>
</Properties>
</file>